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Boas-vindas. 15 a 20 minutos. Público técnico: squads e plataforma.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Comparação linha a linha do MESMO arquivo azure-pipelines.yml, no repositório da aplicação. Antes já havia extends — o problema não era falta de reúso, era o CONTRATO: seguia branch em vez de tag, 14 parâmetros soltos, nenhuma noção de ambiente, nenhuma infra declarada, nenhum rollback. Se perguntarem das 375 linhas: essa foi a era anterior a esta, quando a esteira inteira era copiada no repositório da app; a comparação deste slide é do passo seguinte.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Versão condensada dos dois arquivos reais, lado a lado. Guiar o olhar pelos destaques: à esquerda, ref segue a branch main e 14 parâmetros soltos; à direita, ref pinado na tag v1.3.3, parâmetro de rollback, blocos tipados e a infraestrutura AWS declarada junto do código. Reticências = trechos omitidos por espaço; o arquivo completo fica no anexo técnico.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nivelamento — ainda sem nomes de ferramenta nem de branch. A ideia central: depois que o dev entrega, ninguém mais toca em nada até a aprovação. Entrega, verificação e empacotamento são iguais nos três caminhos. O empacotamento acontece UMA vez: o mesmo pacote é o que vai para dev, homologação e produção — não se recompila a cada ambiente. Aí o caminho se abre: o dia a dia para no primeiro ambiente; só o fechamento de versão atravessa homologação e produção. O bloco laranja é a única parada humana. Se alguém não conhecer o termo, GMUD é Gestão de Mudança — a autorização formal para mexer em produção. Cuidado: iniciar a promoção da versão também é manual, mas isso vem dois slides à frente.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slide de nivelamento — ninguém deve sair daqui perdido. Começar definindo branch: linha de trabalho paralela. Depois as quatro, nesta ordem, que é a ordem da história: main é o que o usuário usa hoje; develop é a bancada do time; release é a caixa que vai ser entregue, montada item por item; hotfix é o conserto urgente em cima do que está no ar. Se der tempo, use a analogia: main é a loja aberta, develop é o estoque, release é o pedido montado para entrega, hotfix é o técnico indo consertar no cliente. Fechar com a caixa azul: o nome da branch decide tudo, o time não configura nada.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Ler da esquerda para a direita: main recebe v1; um hotfix nasce de main (tracejado laranja), vai a produção com GMUD e volta como v1.1, que desce para develop. À direita: o dev abre PR da feature para develop, faz deploy e testa em dev. Ao fechar o ciclo, a release nasce de MAIN (tracejado verde) — não de develop. Esse é o ponto-chave: se ela viesse de develop, carregaria tudo que já está lá, inclusive o que não entra nesta versão. Nascendo de main, ela parte do que está em produção e recebe por PR só as features escolhidas — por isso a MESMA feature precisa de dois PRs, um para develop e outro para a release. QA testa em hml, GMUD leva a prd e a release vira v2 em main, que desce para develop. Atenção: uma release JÁ ABERTA não recebe o hotfix automaticamente — precisa reincorporar main.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partir daqui nomes de branch estão liberados. Release fica fora do gatilho automático de propósito: PR de feature para release não dispara deploy — e por isso a promoção começa com uma execução manual da pipeline.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Homologação e Veracode em paralelo; produção só libera se as duas passarem. GMUD é aprovação no Environment de produção, fora do código. PRs de promoção automáticos.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Mesma linguagem visual do slide anterior. Pula homologação, não pula segurança. Dois gates manuais. A correção volta para main e desce para develop. Se houver uma release JÁ ABERTA, ela não recebe o hotfix sozinha — precisa reincorporar main, senão a próxima GMUD publica sem a correção.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três BLOQUEIA são build breakers, não avisos. Esta é a ordem do caminho completo: no dia a dia o Veracode não roda, e na release ele roda em paralelo com a homologação. Deploy: Terraform provisiona, manifests Kubernetes renderizados e aplicados no EKS.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Contar como cenário. Ressalva honesta: a escolha da versão é humana; se a restaurada não subir, a esteira falha e avisa — sem undo automático.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Encerrar, agradecer e abrir para perguntas.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24000" y="3671888"/>
            <a:ext cx="8452232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304"/>
              </a:lnSpc>
              <a:buNone/>
            </a:pPr>
            <a:r>
              <a:rPr lang="en-US" sz="9000" b="1" spc="-180" kern="0" dirty="0">
                <a:solidFill>
                  <a:srgbClr val="F8F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Esteira DevOps</a:t>
            </a:r>
            <a:endParaRPr lang="en-US" sz="9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01777" y="9791700"/>
            <a:ext cx="1419523" cy="2857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2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800100"/>
            <a:ext cx="184404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E DEPOIS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62000" y="1181100"/>
            <a:ext cx="18440400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350" b="1" spc="-43" kern="0" dirty="0">
                <a:solidFill>
                  <a:srgbClr val="F8F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mesmo arquivo, no repositório da aplicação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762000" y="1952625"/>
            <a:ext cx="184404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AEB8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reúso já existia. O que mudou foi o </a:t>
            </a:r>
            <a:pPr algn="l" indent="0" marL="0">
              <a:buNone/>
            </a:pPr>
            <a:r>
              <a:rPr lang="en-US" sz="2025" b="1" dirty="0">
                <a:solidFill>
                  <a:srgbClr val="F8F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contrato </a:t>
            </a:r>
            <a:pPr algn="l" indent="0" marL="0">
              <a:buNone/>
            </a:pPr>
            <a:r>
              <a:rPr lang="en-US" sz="2025" dirty="0">
                <a:solidFill>
                  <a:srgbClr val="AEB8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 a aplicação e a esteira.</a:t>
            </a:r>
            <a:endParaRPr lang="en-US" sz="2025" dirty="0"/>
          </a:p>
        </p:txBody>
      </p:sp>
      <p:sp>
        <p:nvSpPr>
          <p:cNvPr id="5" name="Text 3"/>
          <p:cNvSpPr/>
          <p:nvPr/>
        </p:nvSpPr>
        <p:spPr>
          <a:xfrm>
            <a:off x="3638550" y="2717750"/>
            <a:ext cx="105057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34" kern="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0829925" y="2717750"/>
            <a:ext cx="111933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34" kern="0" dirty="0">
                <a:solidFill>
                  <a:srgbClr val="7EA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762000" y="3772198"/>
            <a:ext cx="195716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6CD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Versão da esteira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390900" y="3292525"/>
            <a:ext cx="6943725" cy="1226046"/>
          </a:xfrm>
          <a:prstGeom prst="roundRect">
            <a:avLst>
              <a:gd name="adj" fmla="val 7769"/>
            </a:avLst>
          </a:prstGeom>
          <a:solidFill>
            <a:srgbClr val="2A3744"/>
          </a:solidFill>
          <a:ln/>
        </p:spPr>
      </p:sp>
      <p:sp>
        <p:nvSpPr>
          <p:cNvPr id="9" name="Text 7"/>
          <p:cNvSpPr/>
          <p:nvPr/>
        </p:nvSpPr>
        <p:spPr>
          <a:xfrm>
            <a:off x="3638550" y="3590925"/>
            <a:ext cx="709326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0A9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ref: refs/heads/main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3638550" y="3924300"/>
            <a:ext cx="7093268" cy="333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25" dirty="0">
                <a:solidFill>
                  <a:srgbClr val="AEB8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Seguia a branch: qualquer commit na esteira entrava sem aviso.</a:t>
            </a:r>
            <a:endParaRPr lang="en-US" sz="1725" dirty="0"/>
          </a:p>
        </p:txBody>
      </p:sp>
      <p:sp>
        <p:nvSpPr>
          <p:cNvPr id="11" name="Shape 9"/>
          <p:cNvSpPr/>
          <p:nvPr/>
        </p:nvSpPr>
        <p:spPr>
          <a:xfrm>
            <a:off x="10582275" y="3292525"/>
            <a:ext cx="6943725" cy="1226046"/>
          </a:xfrm>
          <a:prstGeom prst="roundRect">
            <a:avLst>
              <a:gd name="adj" fmla="val 7769"/>
            </a:avLst>
          </a:prstGeom>
          <a:solidFill>
            <a:srgbClr val="22344E"/>
          </a:solidFill>
          <a:ln/>
        </p:spPr>
      </p:sp>
      <p:sp>
        <p:nvSpPr>
          <p:cNvPr id="12" name="Text 10"/>
          <p:cNvSpPr/>
          <p:nvPr/>
        </p:nvSpPr>
        <p:spPr>
          <a:xfrm>
            <a:off x="10829925" y="3590925"/>
            <a:ext cx="709326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7EA4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ref: refs/tags/v1.3.3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0829925" y="3924300"/>
            <a:ext cx="7093268" cy="333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25" dirty="0">
                <a:solidFill>
                  <a:srgbClr val="C6CD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aplicação pina uma versão e adota quando quiser.</a:t>
            </a:r>
            <a:endParaRPr lang="en-US" sz="1725" dirty="0"/>
          </a:p>
        </p:txBody>
      </p:sp>
      <p:sp>
        <p:nvSpPr>
          <p:cNvPr id="14" name="Text 12"/>
          <p:cNvSpPr/>
          <p:nvPr/>
        </p:nvSpPr>
        <p:spPr>
          <a:xfrm>
            <a:off x="762000" y="5279380"/>
            <a:ext cx="125774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6CD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Parâmetros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390900" y="4651921"/>
            <a:ext cx="6943725" cy="1521768"/>
          </a:xfrm>
          <a:prstGeom prst="roundRect">
            <a:avLst>
              <a:gd name="adj" fmla="val 6259"/>
            </a:avLst>
          </a:prstGeom>
          <a:solidFill>
            <a:srgbClr val="2A3744"/>
          </a:solidFill>
          <a:ln/>
        </p:spPr>
      </p:sp>
      <p:sp>
        <p:nvSpPr>
          <p:cNvPr id="16" name="Text 14"/>
          <p:cNvSpPr/>
          <p:nvPr/>
        </p:nvSpPr>
        <p:spPr>
          <a:xfrm>
            <a:off x="3638550" y="5098256"/>
            <a:ext cx="709326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A9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pod_min_replicas · ingress_path · …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3638550" y="5431631"/>
            <a:ext cx="7093268" cy="333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25" dirty="0">
                <a:solidFill>
                  <a:srgbClr val="AEB8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campos soltos no mesmo nível, sem tipo e sem agrupamento.</a:t>
            </a:r>
            <a:endParaRPr lang="en-US" sz="1725" dirty="0"/>
          </a:p>
        </p:txBody>
      </p:sp>
      <p:sp>
        <p:nvSpPr>
          <p:cNvPr id="18" name="Shape 16"/>
          <p:cNvSpPr/>
          <p:nvPr/>
        </p:nvSpPr>
        <p:spPr>
          <a:xfrm>
            <a:off x="10582275" y="4651921"/>
            <a:ext cx="6943725" cy="1521768"/>
          </a:xfrm>
          <a:prstGeom prst="roundRect">
            <a:avLst>
              <a:gd name="adj" fmla="val 6259"/>
            </a:avLst>
          </a:prstGeom>
          <a:solidFill>
            <a:srgbClr val="22344E"/>
          </a:solidFill>
          <a:ln/>
        </p:spPr>
      </p:sp>
      <p:sp>
        <p:nvSpPr>
          <p:cNvPr id="19" name="Text 17"/>
          <p:cNvSpPr/>
          <p:nvPr/>
        </p:nvSpPr>
        <p:spPr>
          <a:xfrm>
            <a:off x="10829925" y="4950321"/>
            <a:ext cx="709326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7EA4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pod · networking · resources · config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0829925" y="5283696"/>
            <a:ext cx="6641878" cy="629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25" dirty="0">
                <a:solidFill>
                  <a:srgbClr val="C6CD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Blocos tipados por assunto: o YAML valida os tipos antes de rodar.</a:t>
            </a:r>
            <a:endParaRPr lang="en-US" sz="1725" dirty="0"/>
          </a:p>
        </p:txBody>
      </p:sp>
      <p:sp>
        <p:nvSpPr>
          <p:cNvPr id="21" name="Text 19"/>
          <p:cNvSpPr/>
          <p:nvPr/>
        </p:nvSpPr>
        <p:spPr>
          <a:xfrm>
            <a:off x="762000" y="6620024"/>
            <a:ext cx="226461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6CD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 por ambiente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3390900" y="6307038"/>
            <a:ext cx="6943725" cy="892671"/>
          </a:xfrm>
          <a:prstGeom prst="roundRect">
            <a:avLst>
              <a:gd name="adj" fmla="val 10670"/>
            </a:avLst>
          </a:prstGeom>
          <a:solidFill>
            <a:srgbClr val="2A3744"/>
          </a:solidFill>
          <a:ln/>
        </p:spPr>
      </p:sp>
      <p:sp>
        <p:nvSpPr>
          <p:cNvPr id="23" name="Text 21"/>
          <p:cNvSpPr/>
          <p:nvPr/>
        </p:nvSpPr>
        <p:spPr>
          <a:xfrm>
            <a:off x="3638550" y="6605439"/>
            <a:ext cx="5688955" cy="333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25" dirty="0">
                <a:solidFill>
                  <a:srgbClr val="AEB8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lista só de variáveis, idêntica em dev, hml e prd.</a:t>
            </a:r>
            <a:endParaRPr lang="en-US" sz="1725" dirty="0"/>
          </a:p>
        </p:txBody>
      </p:sp>
      <p:sp>
        <p:nvSpPr>
          <p:cNvPr id="24" name="Shape 22"/>
          <p:cNvSpPr/>
          <p:nvPr/>
        </p:nvSpPr>
        <p:spPr>
          <a:xfrm>
            <a:off x="10582275" y="6307038"/>
            <a:ext cx="6943725" cy="892671"/>
          </a:xfrm>
          <a:prstGeom prst="roundRect">
            <a:avLst>
              <a:gd name="adj" fmla="val 10670"/>
            </a:avLst>
          </a:prstGeom>
          <a:solidFill>
            <a:srgbClr val="22344E"/>
          </a:solidFill>
          <a:ln/>
        </p:spPr>
      </p:sp>
      <p:sp>
        <p:nvSpPr>
          <p:cNvPr id="25" name="Text 23"/>
          <p:cNvSpPr/>
          <p:nvPr/>
        </p:nvSpPr>
        <p:spPr>
          <a:xfrm>
            <a:off x="10829925" y="6605439"/>
            <a:ext cx="5158368" cy="333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25" dirty="0">
                <a:solidFill>
                  <a:srgbClr val="7EA4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ssm_parameters </a:t>
            </a:r>
            <a:pPr algn="l" indent="0" marL="0">
              <a:lnSpc>
                <a:spcPct val="115000"/>
              </a:lnSpc>
              <a:buNone/>
            </a:pPr>
            <a:r>
              <a:rPr lang="en-US" sz="1725" dirty="0">
                <a:solidFill>
                  <a:srgbClr val="C6CD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separado por dev, hml e prd.</a:t>
            </a:r>
            <a:endParaRPr lang="en-US" sz="1725" dirty="0"/>
          </a:p>
        </p:txBody>
      </p:sp>
      <p:sp>
        <p:nvSpPr>
          <p:cNvPr id="26" name="Text 24"/>
          <p:cNvSpPr/>
          <p:nvPr/>
        </p:nvSpPr>
        <p:spPr>
          <a:xfrm>
            <a:off x="762000" y="7646045"/>
            <a:ext cx="109686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6CD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 AWS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3390900" y="7333059"/>
            <a:ext cx="6943725" cy="892671"/>
          </a:xfrm>
          <a:prstGeom prst="roundRect">
            <a:avLst>
              <a:gd name="adj" fmla="val 10670"/>
            </a:avLst>
          </a:prstGeom>
          <a:solidFill>
            <a:srgbClr val="2A3744"/>
          </a:solidFill>
          <a:ln/>
        </p:spPr>
      </p:sp>
      <p:sp>
        <p:nvSpPr>
          <p:cNvPr id="28" name="Text 26"/>
          <p:cNvSpPr/>
          <p:nvPr/>
        </p:nvSpPr>
        <p:spPr>
          <a:xfrm>
            <a:off x="3638550" y="7631460"/>
            <a:ext cx="6336432" cy="333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25" dirty="0">
                <a:solidFill>
                  <a:srgbClr val="AEB8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Fila, tópico e tabela criados à mão, fora do fluxo da esteira.</a:t>
            </a:r>
            <a:endParaRPr lang="en-US" sz="1725" dirty="0"/>
          </a:p>
        </p:txBody>
      </p:sp>
      <p:sp>
        <p:nvSpPr>
          <p:cNvPr id="29" name="Shape 27"/>
          <p:cNvSpPr/>
          <p:nvPr/>
        </p:nvSpPr>
        <p:spPr>
          <a:xfrm>
            <a:off x="10582275" y="7333059"/>
            <a:ext cx="6943725" cy="892671"/>
          </a:xfrm>
          <a:prstGeom prst="roundRect">
            <a:avLst>
              <a:gd name="adj" fmla="val 10670"/>
            </a:avLst>
          </a:prstGeom>
          <a:solidFill>
            <a:srgbClr val="22344E"/>
          </a:solidFill>
          <a:ln/>
        </p:spPr>
      </p:sp>
      <p:sp>
        <p:nvSpPr>
          <p:cNvPr id="30" name="Text 28"/>
          <p:cNvSpPr/>
          <p:nvPr/>
        </p:nvSpPr>
        <p:spPr>
          <a:xfrm>
            <a:off x="10829925" y="7631460"/>
            <a:ext cx="5359078" cy="333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25" dirty="0">
                <a:solidFill>
                  <a:srgbClr val="C6CD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aplicação declara SQS, SNS e SNS Subscription.</a:t>
            </a:r>
            <a:endParaRPr lang="en-US" sz="1725" dirty="0"/>
          </a:p>
        </p:txBody>
      </p:sp>
      <p:sp>
        <p:nvSpPr>
          <p:cNvPr id="31" name="Text 29"/>
          <p:cNvSpPr/>
          <p:nvPr/>
        </p:nvSpPr>
        <p:spPr>
          <a:xfrm>
            <a:off x="762000" y="8672066"/>
            <a:ext cx="95294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6CD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Rollback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3390900" y="8359080"/>
            <a:ext cx="6943725" cy="892671"/>
          </a:xfrm>
          <a:prstGeom prst="roundRect">
            <a:avLst>
              <a:gd name="adj" fmla="val 10670"/>
            </a:avLst>
          </a:prstGeom>
          <a:solidFill>
            <a:srgbClr val="2A3744"/>
          </a:solidFill>
          <a:ln/>
        </p:spPr>
      </p:sp>
      <p:sp>
        <p:nvSpPr>
          <p:cNvPr id="33" name="Text 31"/>
          <p:cNvSpPr/>
          <p:nvPr/>
        </p:nvSpPr>
        <p:spPr>
          <a:xfrm>
            <a:off x="3638550" y="8657481"/>
            <a:ext cx="5842189" cy="333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25" dirty="0">
                <a:solidFill>
                  <a:srgbClr val="AEB8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existia na pipeline: resolvia-se na mão, no cluster.</a:t>
            </a:r>
            <a:endParaRPr lang="en-US" sz="1725" dirty="0"/>
          </a:p>
        </p:txBody>
      </p:sp>
      <p:sp>
        <p:nvSpPr>
          <p:cNvPr id="34" name="Shape 32"/>
          <p:cNvSpPr/>
          <p:nvPr/>
        </p:nvSpPr>
        <p:spPr>
          <a:xfrm>
            <a:off x="10582275" y="8359080"/>
            <a:ext cx="6943725" cy="892671"/>
          </a:xfrm>
          <a:prstGeom prst="roundRect">
            <a:avLst>
              <a:gd name="adj" fmla="val 10670"/>
            </a:avLst>
          </a:prstGeom>
          <a:solidFill>
            <a:srgbClr val="22344E"/>
          </a:solidFill>
          <a:ln/>
        </p:spPr>
      </p:sp>
      <p:sp>
        <p:nvSpPr>
          <p:cNvPr id="35" name="Text 33"/>
          <p:cNvSpPr/>
          <p:nvPr/>
        </p:nvSpPr>
        <p:spPr>
          <a:xfrm>
            <a:off x="10829925" y="8657481"/>
            <a:ext cx="6186473" cy="333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25" dirty="0">
                <a:solidFill>
                  <a:srgbClr val="7EA4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rollbackImageTag </a:t>
            </a:r>
            <a:pPr algn="l" indent="0" marL="0">
              <a:lnSpc>
                <a:spcPct val="115000"/>
              </a:lnSpc>
              <a:buNone/>
            </a:pPr>
            <a:r>
              <a:rPr lang="en-US" sz="1725" dirty="0">
                <a:solidFill>
                  <a:srgbClr val="C6CD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mesma pipeline, sem recompilar.</a:t>
            </a:r>
            <a:endParaRPr lang="en-US" sz="1725" dirty="0"/>
          </a:p>
        </p:txBody>
      </p:sp>
      <p:pic>
        <p:nvPicPr>
          <p:cNvPr id="3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01777" y="9791700"/>
            <a:ext cx="1419523" cy="2857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2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66750"/>
            <a:ext cx="184404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E DEPOIS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62000" y="1028700"/>
            <a:ext cx="1844040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b="1" spc="-40" kern="0" dirty="0">
                <a:solidFill>
                  <a:srgbClr val="F8F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dois contratos, lado a lado</a:t>
            </a:r>
            <a:endParaRPr lang="en-US" sz="4050" dirty="0"/>
          </a:p>
        </p:txBody>
      </p:sp>
      <p:sp>
        <p:nvSpPr>
          <p:cNvPr id="4" name="Shape 2"/>
          <p:cNvSpPr/>
          <p:nvPr/>
        </p:nvSpPr>
        <p:spPr>
          <a:xfrm>
            <a:off x="762000" y="1847850"/>
            <a:ext cx="8229600" cy="7905750"/>
          </a:xfrm>
          <a:prstGeom prst="roundRect">
            <a:avLst>
              <a:gd name="adj" fmla="val 1446"/>
            </a:avLst>
          </a:prstGeom>
          <a:solidFill>
            <a:srgbClr val="2A3744"/>
          </a:solidFill>
          <a:ln/>
        </p:spPr>
      </p:sp>
      <p:sp>
        <p:nvSpPr>
          <p:cNvPr id="5" name="Text 3"/>
          <p:cNvSpPr/>
          <p:nvPr/>
        </p:nvSpPr>
        <p:spPr>
          <a:xfrm>
            <a:off x="1085850" y="2095500"/>
            <a:ext cx="834009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spc="225" kern="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</a:t>
            </a:r>
            <a:endParaRPr lang="en-US" sz="1875" dirty="0"/>
          </a:p>
        </p:txBody>
      </p:sp>
      <p:sp>
        <p:nvSpPr>
          <p:cNvPr id="6" name="Text 4"/>
          <p:cNvSpPr/>
          <p:nvPr/>
        </p:nvSpPr>
        <p:spPr>
          <a:xfrm>
            <a:off x="1085850" y="2505075"/>
            <a:ext cx="7809357" cy="70389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22636"/>
              </a:lnSpc>
              <a:buNone/>
            </a:pPr>
            <a:r>
              <a:rPr lang="en-US" sz="1425" dirty="0">
                <a:solidFill>
                  <a:srgbClr val="AEB8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trigger:</a:t>
            </a:r>
            <a:endParaRPr lang="en-US" sz="1425" dirty="0"/>
          </a:p>
          <a:p>
            <a:pPr algn="l" indent="0" marL="0">
              <a:lnSpc>
                <a:spcPct val="122636"/>
              </a:lnSpc>
              <a:buNone/>
            </a:pPr>
            <a:r>
              <a:rPr lang="en-US" sz="1425" dirty="0">
                <a:solidFill>
                  <a:srgbClr val="AEB8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branches:</a:t>
            </a:r>
            <a:endParaRPr lang="en-US" sz="1425" dirty="0"/>
          </a:p>
          <a:p>
            <a:pPr algn="l" indent="0" marL="0">
              <a:lnSpc>
                <a:spcPct val="122636"/>
              </a:lnSpc>
              <a:buNone/>
            </a:pPr>
            <a:r>
              <a:rPr lang="en-US" sz="1425" dirty="0">
                <a:solidFill>
                  <a:srgbClr val="AEB8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include: [develop, hotfix/*]</a:t>
            </a:r>
            <a:endParaRPr lang="en-US" sz="1425" dirty="0"/>
          </a:p>
          <a:p>
            <a:pPr algn="l" indent="0" marL="0">
              <a:lnSpc>
                <a:spcPct val="122636"/>
              </a:lnSpc>
              <a:buNone/>
            </a:pPr>
            <a:endParaRPr lang="en-US" sz="1425" dirty="0"/>
          </a:p>
          <a:p>
            <a:pPr algn="l" indent="0" marL="0">
              <a:lnSpc>
                <a:spcPct val="122636"/>
              </a:lnSpc>
              <a:buNone/>
            </a:pPr>
            <a:r>
              <a:rPr lang="en-US" sz="1425" dirty="0">
                <a:solidFill>
                  <a:srgbClr val="AEB8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resources:</a:t>
            </a:r>
            <a:endParaRPr lang="en-US" sz="1425" dirty="0"/>
          </a:p>
          <a:p>
            <a:pPr algn="l" indent="0" marL="0">
              <a:lnSpc>
                <a:spcPct val="122636"/>
              </a:lnSpc>
              <a:buNone/>
            </a:pPr>
            <a:r>
              <a:rPr lang="en-US" sz="1425" dirty="0">
                <a:solidFill>
                  <a:srgbClr val="AEB8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repositories:</a:t>
            </a:r>
            <a:endParaRPr lang="en-US" sz="1425" dirty="0"/>
          </a:p>
          <a:p>
            <a:pPr algn="l" indent="0" marL="0">
              <a:lnSpc>
                <a:spcPct val="122636"/>
              </a:lnSpc>
              <a:buNone/>
            </a:pPr>
            <a:r>
              <a:rPr lang="en-US" sz="1425" dirty="0">
                <a:solidFill>
                  <a:srgbClr val="AEB8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repository: pipelines</a:t>
            </a:r>
            <a:endParaRPr lang="en-US" sz="1425" dirty="0"/>
          </a:p>
          <a:p>
            <a:pPr algn="l" indent="0" marL="0">
              <a:lnSpc>
                <a:spcPct val="122636"/>
              </a:lnSpc>
              <a:buNone/>
            </a:pPr>
            <a:r>
              <a:rPr lang="en-US" sz="1425" dirty="0">
                <a:solidFill>
                  <a:srgbClr val="AEB8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endParaRPr lang="en-US" sz="1425" dirty="0"/>
          </a:p>
          <a:p>
            <a:pPr algn="l" indent="0" marL="0">
              <a:lnSpc>
                <a:spcPct val="122636"/>
              </a:lnSpc>
              <a:buNone/>
            </a:pPr>
            <a:r>
              <a:rPr lang="en-US" sz="1425" b="1" dirty="0">
                <a:solidFill>
                  <a:srgbClr val="F0A9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ref: refs/heads/main </a:t>
            </a:r>
            <a:pPr algn="l" indent="0" marL="0">
              <a:lnSpc>
                <a:spcPct val="122636"/>
              </a:lnSpc>
              <a:buNone/>
            </a:pPr>
            <a:r>
              <a:rPr lang="en-US" sz="1425" dirty="0">
                <a:solidFill>
                  <a:srgbClr val="AEB8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extends:</a:t>
            </a:r>
            <a:endParaRPr lang="en-US" sz="1425" dirty="0"/>
          </a:p>
          <a:p>
            <a:pPr algn="l" indent="0" marL="0">
              <a:lnSpc>
                <a:spcPct val="122636"/>
              </a:lnSpc>
              <a:buNone/>
            </a:pPr>
            <a:r>
              <a:rPr lang="en-US" sz="1425" dirty="0">
                <a:solidFill>
                  <a:srgbClr val="AEB8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template: …dotnet.yaml@pipelines</a:t>
            </a:r>
            <a:endParaRPr lang="en-US" sz="1425" dirty="0"/>
          </a:p>
          <a:p>
            <a:pPr algn="l" indent="0" marL="0">
              <a:lnSpc>
                <a:spcPct val="122636"/>
              </a:lnSpc>
              <a:buNone/>
            </a:pPr>
            <a:r>
              <a:rPr lang="en-US" sz="1425" dirty="0">
                <a:solidFill>
                  <a:srgbClr val="AEB8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parameters:</a:t>
            </a:r>
            <a:endParaRPr lang="en-US" sz="1425" dirty="0"/>
          </a:p>
          <a:p>
            <a:pPr algn="l" indent="0" marL="0">
              <a:lnSpc>
                <a:spcPct val="122636"/>
              </a:lnSpc>
              <a:buNone/>
            </a:pPr>
            <a:r>
              <a:rPr lang="en-US" sz="1425" dirty="0">
                <a:solidFill>
                  <a:srgbClr val="AEB8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endParaRPr lang="en-US" sz="1425" dirty="0"/>
          </a:p>
          <a:p>
            <a:pPr algn="l" indent="0" marL="0">
              <a:lnSpc>
                <a:spcPct val="122636"/>
              </a:lnSpc>
              <a:buNone/>
            </a:pPr>
            <a:r>
              <a:rPr lang="en-US" sz="1425" dirty="0">
                <a:solidFill>
                  <a:srgbClr val="F0A9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api_visibility: public</a:t>
            </a:r>
            <a:endParaRPr lang="en-US" sz="1425" dirty="0"/>
          </a:p>
          <a:p>
            <a:pPr algn="l" indent="0" marL="0">
              <a:lnSpc>
                <a:spcPct val="122636"/>
              </a:lnSpc>
              <a:buNone/>
            </a:pPr>
            <a:r>
              <a:rPr lang="en-US" sz="1425" dirty="0">
                <a:solidFill>
                  <a:srgbClr val="F0A9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pod_min_replicas: 1</a:t>
            </a:r>
            <a:endParaRPr lang="en-US" sz="1425" dirty="0"/>
          </a:p>
          <a:p>
            <a:pPr algn="l" indent="0" marL="0">
              <a:lnSpc>
                <a:spcPct val="122636"/>
              </a:lnSpc>
              <a:buNone/>
            </a:pPr>
            <a:r>
              <a:rPr lang="en-US" sz="1425" dirty="0">
                <a:solidFill>
                  <a:srgbClr val="F0A9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domain_name: dev-api-teste…</a:t>
            </a:r>
            <a:endParaRPr lang="en-US" sz="1425" dirty="0"/>
          </a:p>
          <a:p>
            <a:pPr algn="l" indent="0" marL="0">
              <a:lnSpc>
                <a:spcPct val="122636"/>
              </a:lnSpc>
              <a:buNone/>
            </a:pPr>
            <a:r>
              <a:rPr lang="en-US" sz="1425" dirty="0">
                <a:solidFill>
                  <a:srgbClr val="F0A9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pod_requests_cpu: 100m</a:t>
            </a:r>
            <a:endParaRPr lang="en-US" sz="1425" dirty="0"/>
          </a:p>
          <a:p>
            <a:pPr algn="l" indent="0" marL="0">
              <a:lnSpc>
                <a:spcPct val="122636"/>
              </a:lnSpc>
              <a:buNone/>
            </a:pPr>
            <a:r>
              <a:rPr lang="en-US" sz="1425" dirty="0">
                <a:solidFill>
                  <a:srgbClr val="F0A9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ingress_path: /corporativo…</a:t>
            </a:r>
            <a:endParaRPr lang="en-US" sz="1425" dirty="0"/>
          </a:p>
          <a:p>
            <a:pPr algn="l" indent="0" marL="0">
              <a:lnSpc>
                <a:spcPct val="122636"/>
              </a:lnSpc>
              <a:buNone/>
            </a:pPr>
            <a:r>
              <a:rPr lang="en-US" sz="1425" dirty="0">
                <a:solidFill>
                  <a:srgbClr val="F0A9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cpu_utilization: 70 </a:t>
            </a:r>
            <a:endParaRPr lang="en-US" sz="1425" dirty="0"/>
          </a:p>
          <a:p>
            <a:pPr algn="l" indent="0" marL="0">
              <a:lnSpc>
                <a:spcPct val="122636"/>
              </a:lnSpc>
              <a:buNone/>
            </a:pPr>
            <a:r>
              <a:rPr lang="en-US" sz="1425" dirty="0">
                <a:solidFill>
                  <a:srgbClr val="AEB8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…                env_vars:</a:t>
            </a:r>
            <a:endParaRPr lang="en-US" sz="1425" dirty="0"/>
          </a:p>
          <a:p>
            <a:pPr algn="l" indent="0" marL="0">
              <a:lnSpc>
                <a:spcPct val="122636"/>
              </a:lnSpc>
              <a:buNone/>
            </a:pPr>
            <a:r>
              <a:rPr lang="en-US" sz="1425" dirty="0">
                <a:solidFill>
                  <a:srgbClr val="AEB8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name: DATA</a:t>
            </a:r>
            <a:endParaRPr lang="en-US" sz="1425" dirty="0"/>
          </a:p>
          <a:p>
            <a:pPr algn="l" indent="0" marL="0">
              <a:lnSpc>
                <a:spcPct val="122636"/>
              </a:lnSpc>
              <a:buNone/>
            </a:pPr>
            <a:r>
              <a:rPr lang="en-US" sz="1425" dirty="0">
                <a:solidFill>
                  <a:srgbClr val="AEB8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value: teste</a:t>
            </a:r>
            <a:endParaRPr lang="en-US" sz="1425" dirty="0"/>
          </a:p>
        </p:txBody>
      </p:sp>
      <p:sp>
        <p:nvSpPr>
          <p:cNvPr id="7" name="Shape 5"/>
          <p:cNvSpPr/>
          <p:nvPr/>
        </p:nvSpPr>
        <p:spPr>
          <a:xfrm>
            <a:off x="9296400" y="1847850"/>
            <a:ext cx="8229600" cy="7905750"/>
          </a:xfrm>
          <a:prstGeom prst="roundRect">
            <a:avLst>
              <a:gd name="adj" fmla="val 1446"/>
            </a:avLst>
          </a:prstGeom>
          <a:solidFill>
            <a:srgbClr val="22344E"/>
          </a:solidFill>
          <a:ln/>
        </p:spPr>
      </p:sp>
      <p:sp>
        <p:nvSpPr>
          <p:cNvPr id="8" name="Text 6"/>
          <p:cNvSpPr/>
          <p:nvPr/>
        </p:nvSpPr>
        <p:spPr>
          <a:xfrm>
            <a:off x="9620250" y="2095500"/>
            <a:ext cx="834009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spc="225" kern="0" dirty="0">
                <a:solidFill>
                  <a:srgbClr val="7EA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</a:t>
            </a:r>
            <a:endParaRPr lang="en-US" sz="1875" dirty="0"/>
          </a:p>
        </p:txBody>
      </p:sp>
      <p:sp>
        <p:nvSpPr>
          <p:cNvPr id="9" name="Text 7"/>
          <p:cNvSpPr/>
          <p:nvPr/>
        </p:nvSpPr>
        <p:spPr>
          <a:xfrm>
            <a:off x="9620250" y="2505075"/>
            <a:ext cx="7809357" cy="70389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22636"/>
              </a:lnSpc>
              <a:buNone/>
            </a:pPr>
            <a:r>
              <a:rPr lang="en-US" sz="1425" dirty="0">
                <a:solidFill>
                  <a:srgbClr val="C6CDD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trigger:</a:t>
            </a:r>
            <a:endParaRPr lang="en-US" sz="1425" dirty="0"/>
          </a:p>
          <a:p>
            <a:pPr algn="l" indent="0" marL="0">
              <a:lnSpc>
                <a:spcPct val="122636"/>
              </a:lnSpc>
              <a:buNone/>
            </a:pPr>
            <a:r>
              <a:rPr lang="en-US" sz="1425" dirty="0">
                <a:solidFill>
                  <a:srgbClr val="C6CDD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branches:</a:t>
            </a:r>
            <a:endParaRPr lang="en-US" sz="1425" dirty="0"/>
          </a:p>
          <a:p>
            <a:pPr algn="l" indent="0" marL="0">
              <a:lnSpc>
                <a:spcPct val="122636"/>
              </a:lnSpc>
              <a:buNone/>
            </a:pPr>
            <a:r>
              <a:rPr lang="en-US" sz="1425" dirty="0">
                <a:solidFill>
                  <a:srgbClr val="C6CDD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include: [develop, hotfix/*] </a:t>
            </a:r>
            <a:endParaRPr lang="en-US" sz="1425" dirty="0"/>
          </a:p>
          <a:p>
            <a:pPr algn="l" indent="0" marL="0">
              <a:lnSpc>
                <a:spcPct val="122636"/>
              </a:lnSpc>
              <a:buNone/>
            </a:pPr>
            <a:r>
              <a:rPr lang="en-US" sz="1425" dirty="0">
                <a:solidFill>
                  <a:srgbClr val="7EA4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parameters:</a:t>
            </a:r>
            <a:endParaRPr lang="en-US" sz="1425" dirty="0"/>
          </a:p>
          <a:p>
            <a:pPr algn="l" indent="0" marL="0">
              <a:lnSpc>
                <a:spcPct val="122636"/>
              </a:lnSpc>
              <a:buNone/>
            </a:pPr>
            <a:r>
              <a:rPr lang="en-US" sz="1425" dirty="0">
                <a:solidFill>
                  <a:srgbClr val="7EA4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name: rollbackImageTag</a:t>
            </a:r>
            <a:endParaRPr lang="en-US" sz="1425" dirty="0"/>
          </a:p>
          <a:p>
            <a:pPr algn="l" indent="0" marL="0">
              <a:lnSpc>
                <a:spcPct val="122636"/>
              </a:lnSpc>
              <a:buNone/>
            </a:pPr>
            <a:r>
              <a:rPr lang="en-US" sz="1425" dirty="0">
                <a:solidFill>
                  <a:srgbClr val="C6CDD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algn="l" indent="0" marL="0">
              <a:lnSpc>
                <a:spcPct val="122636"/>
              </a:lnSpc>
              <a:buNone/>
            </a:pPr>
            <a:r>
              <a:rPr lang="en-US" sz="1425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rollback nativo </a:t>
            </a:r>
            <a:pPr algn="l" indent="0" marL="0">
              <a:lnSpc>
                <a:spcPct val="122636"/>
              </a:lnSpc>
              <a:buNone/>
            </a:pPr>
            <a:r>
              <a:rPr lang="en-US" sz="1425" dirty="0">
                <a:solidFill>
                  <a:srgbClr val="C6CDD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resources:</a:t>
            </a:r>
            <a:endParaRPr lang="en-US" sz="1425" dirty="0"/>
          </a:p>
          <a:p>
            <a:pPr algn="l" indent="0" marL="0">
              <a:lnSpc>
                <a:spcPct val="122636"/>
              </a:lnSpc>
              <a:buNone/>
            </a:pPr>
            <a:r>
              <a:rPr lang="en-US" sz="1425" dirty="0">
                <a:solidFill>
                  <a:srgbClr val="C6CDD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repositories:</a:t>
            </a:r>
            <a:endParaRPr lang="en-US" sz="1425" dirty="0"/>
          </a:p>
          <a:p>
            <a:pPr algn="l" indent="0" marL="0">
              <a:lnSpc>
                <a:spcPct val="122636"/>
              </a:lnSpc>
              <a:buNone/>
            </a:pPr>
            <a:r>
              <a:rPr lang="en-US" sz="1425" dirty="0">
                <a:solidFill>
                  <a:srgbClr val="C6CDD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repository: templates</a:t>
            </a:r>
            <a:endParaRPr lang="en-US" sz="1425" dirty="0"/>
          </a:p>
          <a:p>
            <a:pPr algn="l" indent="0" marL="0">
              <a:lnSpc>
                <a:spcPct val="122636"/>
              </a:lnSpc>
              <a:buNone/>
            </a:pPr>
            <a:r>
              <a:rPr lang="en-US" sz="1425" dirty="0">
                <a:solidFill>
                  <a:srgbClr val="C6CDD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endParaRPr lang="en-US" sz="1425" dirty="0"/>
          </a:p>
          <a:p>
            <a:pPr algn="l" indent="0" marL="0">
              <a:lnSpc>
                <a:spcPct val="122636"/>
              </a:lnSpc>
              <a:buNone/>
            </a:pPr>
            <a:r>
              <a:rPr lang="en-US" sz="1425" b="1" dirty="0">
                <a:solidFill>
                  <a:srgbClr val="5FB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ref: refs/tags/v1.3.3</a:t>
            </a:r>
            <a:pPr algn="l" indent="0" marL="0">
              <a:lnSpc>
                <a:spcPct val="122636"/>
              </a:lnSpc>
              <a:buNone/>
            </a:pPr>
            <a:r>
              <a:rPr lang="en-US" sz="1425" dirty="0">
                <a:solidFill>
                  <a:srgbClr val="C6CDD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22636"/>
              </a:lnSpc>
              <a:buNone/>
            </a:pPr>
            <a:r>
              <a:rPr lang="en-US" sz="1425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versão pinada </a:t>
            </a:r>
            <a:pPr algn="l" indent="0" marL="0">
              <a:lnSpc>
                <a:spcPct val="122636"/>
              </a:lnSpc>
              <a:buNone/>
            </a:pPr>
            <a:r>
              <a:rPr lang="en-US" sz="1425" dirty="0">
                <a:solidFill>
                  <a:srgbClr val="C6CDD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extends:</a:t>
            </a:r>
            <a:endParaRPr lang="en-US" sz="1425" dirty="0"/>
          </a:p>
          <a:p>
            <a:pPr algn="l" indent="0" marL="0">
              <a:lnSpc>
                <a:spcPct val="122636"/>
              </a:lnSpc>
              <a:buNone/>
            </a:pPr>
            <a:r>
              <a:rPr lang="en-US" sz="1425" dirty="0">
                <a:solidFill>
                  <a:srgbClr val="C6CDD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template: …dotnet-backend.yaml@templates</a:t>
            </a:r>
            <a:endParaRPr lang="en-US" sz="1425" dirty="0"/>
          </a:p>
          <a:p>
            <a:pPr algn="l" indent="0" marL="0">
              <a:lnSpc>
                <a:spcPct val="122636"/>
              </a:lnSpc>
              <a:buNone/>
            </a:pPr>
            <a:r>
              <a:rPr lang="en-US" sz="1425" dirty="0">
                <a:solidFill>
                  <a:srgbClr val="C6CDD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parameters:</a:t>
            </a:r>
            <a:endParaRPr lang="en-US" sz="1425" dirty="0"/>
          </a:p>
          <a:p>
            <a:pPr algn="l" indent="0" marL="0">
              <a:lnSpc>
                <a:spcPct val="122636"/>
              </a:lnSpc>
              <a:buNone/>
            </a:pPr>
            <a:r>
              <a:rPr lang="en-US" sz="1425" dirty="0">
                <a:solidFill>
                  <a:srgbClr val="C6CDD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endParaRPr lang="en-US" sz="1425" dirty="0"/>
          </a:p>
          <a:p>
            <a:pPr algn="l" indent="0" marL="0">
              <a:lnSpc>
                <a:spcPct val="122636"/>
              </a:lnSpc>
              <a:buNone/>
            </a:pPr>
            <a:r>
              <a:rPr lang="en-US" sz="1425" dirty="0">
                <a:solidFill>
                  <a:srgbClr val="7EA4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pod: </a:t>
            </a:r>
            <a:pPr algn="l" indent="0" marL="0">
              <a:lnSpc>
                <a:spcPct val="122636"/>
              </a:lnSpc>
              <a:buNone/>
            </a:pPr>
            <a:r>
              <a:rPr lang="en-US" sz="1425" dirty="0">
                <a:solidFill>
                  <a:srgbClr val="C6CDD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…</a:t>
            </a:r>
            <a:endParaRPr lang="en-US" sz="1425" dirty="0"/>
          </a:p>
          <a:p>
            <a:pPr algn="l" indent="0" marL="0">
              <a:lnSpc>
                <a:spcPct val="122636"/>
              </a:lnSpc>
              <a:buNone/>
            </a:pPr>
            <a:r>
              <a:rPr lang="en-US" sz="1425" dirty="0">
                <a:solidFill>
                  <a:srgbClr val="C6CDD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endParaRPr lang="en-US" sz="1425" dirty="0"/>
          </a:p>
          <a:p>
            <a:pPr algn="l" indent="0" marL="0">
              <a:lnSpc>
                <a:spcPct val="122636"/>
              </a:lnSpc>
              <a:buNone/>
            </a:pPr>
            <a:r>
              <a:rPr lang="en-US" sz="1425" dirty="0">
                <a:solidFill>
                  <a:srgbClr val="7EA4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networking: </a:t>
            </a:r>
            <a:pPr algn="l" indent="0" marL="0">
              <a:lnSpc>
                <a:spcPct val="122636"/>
              </a:lnSpc>
              <a:buNone/>
            </a:pPr>
            <a:r>
              <a:rPr lang="en-US" sz="1425" dirty="0">
                <a:solidFill>
                  <a:srgbClr val="C6CDD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…</a:t>
            </a:r>
            <a:endParaRPr lang="en-US" sz="1425" dirty="0"/>
          </a:p>
          <a:p>
            <a:pPr algn="l" indent="0" marL="0">
              <a:lnSpc>
                <a:spcPct val="122636"/>
              </a:lnSpc>
              <a:buNone/>
            </a:pPr>
            <a:r>
              <a:rPr lang="en-US" sz="1425" dirty="0">
                <a:solidFill>
                  <a:srgbClr val="C6CDD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endParaRPr lang="en-US" sz="1425" dirty="0"/>
          </a:p>
          <a:p>
            <a:pPr algn="l" indent="0" marL="0">
              <a:lnSpc>
                <a:spcPct val="122636"/>
              </a:lnSpc>
              <a:buNone/>
            </a:pPr>
            <a:r>
              <a:rPr lang="en-US" sz="1425" dirty="0">
                <a:solidFill>
                  <a:srgbClr val="7EA4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resources:</a:t>
            </a:r>
            <a:pPr algn="l" indent="0" marL="0">
              <a:lnSpc>
                <a:spcPct val="122636"/>
              </a:lnSpc>
              <a:buNone/>
            </a:pPr>
            <a:r>
              <a:rPr lang="en-US" sz="1425" dirty="0">
                <a:solidFill>
                  <a:srgbClr val="C6CDD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algn="l" indent="0" marL="0">
              <a:lnSpc>
                <a:spcPct val="122636"/>
              </a:lnSpc>
              <a:buNone/>
            </a:pPr>
            <a:r>
              <a:rPr lang="en-US" sz="1425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 declarada </a:t>
            </a:r>
            <a:pPr algn="l" indent="0" marL="0">
              <a:lnSpc>
                <a:spcPct val="122636"/>
              </a:lnSpc>
              <a:buNone/>
            </a:pPr>
            <a:r>
              <a:rPr lang="en-US" sz="1425" dirty="0">
                <a:solidFill>
                  <a:srgbClr val="C6CDD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sqs: [minha-fila]</a:t>
            </a:r>
            <a:endParaRPr lang="en-US" sz="1425" dirty="0"/>
          </a:p>
          <a:p>
            <a:pPr algn="l" indent="0" marL="0">
              <a:lnSpc>
                <a:spcPct val="122636"/>
              </a:lnSpc>
              <a:buNone/>
            </a:pPr>
            <a:r>
              <a:rPr lang="en-US" sz="1425" dirty="0">
                <a:solidFill>
                  <a:srgbClr val="C6CDD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sns_topics: [aws-sqs-teste…]       sns_subscription: []</a:t>
            </a:r>
            <a:endParaRPr lang="en-US" sz="1425" dirty="0"/>
          </a:p>
          <a:p>
            <a:pPr algn="l" indent="0" marL="0">
              <a:lnSpc>
                <a:spcPct val="122636"/>
              </a:lnSpc>
              <a:buNone/>
            </a:pPr>
            <a:r>
              <a:rPr lang="en-US" sz="1425" dirty="0">
                <a:solidFill>
                  <a:srgbClr val="C6CDD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endParaRPr lang="en-US" sz="1425" dirty="0"/>
          </a:p>
          <a:p>
            <a:pPr algn="l" indent="0" marL="0">
              <a:lnSpc>
                <a:spcPct val="122636"/>
              </a:lnSpc>
              <a:buNone/>
            </a:pPr>
            <a:r>
              <a:rPr lang="en-US" sz="1425" dirty="0">
                <a:solidFill>
                  <a:srgbClr val="7EA4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observability: </a:t>
            </a:r>
            <a:pPr algn="l" indent="0" marL="0">
              <a:lnSpc>
                <a:spcPct val="122636"/>
              </a:lnSpc>
              <a:buNone/>
            </a:pPr>
            <a:r>
              <a:rPr lang="en-US" sz="1425" dirty="0">
                <a:solidFill>
                  <a:srgbClr val="C6CDD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…</a:t>
            </a:r>
            <a:endParaRPr lang="en-US" sz="1425" dirty="0"/>
          </a:p>
          <a:p>
            <a:pPr algn="l" indent="0" marL="0">
              <a:lnSpc>
                <a:spcPct val="122636"/>
              </a:lnSpc>
              <a:buNone/>
            </a:pPr>
            <a:r>
              <a:rPr lang="en-US" sz="1425" dirty="0">
                <a:solidFill>
                  <a:srgbClr val="C6CDD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endParaRPr lang="en-US" sz="1425" dirty="0"/>
          </a:p>
          <a:p>
            <a:pPr algn="l" indent="0" marL="0">
              <a:lnSpc>
                <a:spcPct val="122636"/>
              </a:lnSpc>
              <a:buNone/>
            </a:pPr>
            <a:r>
              <a:rPr lang="en-US" sz="1425" dirty="0">
                <a:solidFill>
                  <a:srgbClr val="7EA4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config: </a:t>
            </a:r>
            <a:pPr algn="l" indent="0" marL="0">
              <a:lnSpc>
                <a:spcPct val="122636"/>
              </a:lnSpc>
              <a:buNone/>
            </a:pPr>
            <a:r>
              <a:rPr lang="en-US" sz="1425" dirty="0">
                <a:solidFill>
                  <a:srgbClr val="C6CDD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env_vars: …</a:t>
            </a:r>
            <a:endParaRPr lang="en-US" sz="1425" dirty="0"/>
          </a:p>
          <a:p>
            <a:pPr algn="l" indent="0" marL="0">
              <a:lnSpc>
                <a:spcPct val="122636"/>
              </a:lnSpc>
              <a:buNone/>
            </a:pPr>
            <a:r>
              <a:rPr lang="en-US" sz="1425" dirty="0">
                <a:solidFill>
                  <a:srgbClr val="C6CDD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ssm_parameters: </a:t>
            </a:r>
            <a:endParaRPr lang="en-US" sz="1425" dirty="0"/>
          </a:p>
          <a:p>
            <a:pPr algn="l" indent="0" marL="0">
              <a:lnSpc>
                <a:spcPct val="122636"/>
              </a:lnSpc>
              <a:buNone/>
            </a:pPr>
            <a:r>
              <a:rPr lang="en-US" sz="1425" dirty="0">
                <a:solidFill>
                  <a:srgbClr val="5FB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 · hml · prd</a:t>
            </a:r>
            <a:endParaRPr lang="en-US" sz="1425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01777" y="9791700"/>
            <a:ext cx="1419523" cy="2857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2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7250" y="857250"/>
            <a:ext cx="182308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VISÃO GERAL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57250" y="1238250"/>
            <a:ext cx="1823085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spc="-45" kern="0" dirty="0">
                <a:solidFill>
                  <a:srgbClr val="F8F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é um workflow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857250" y="2066925"/>
            <a:ext cx="16344900" cy="44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424"/>
              </a:lnSpc>
              <a:buNone/>
            </a:pPr>
            <a:r>
              <a:rPr lang="en-US" sz="2175" dirty="0">
                <a:solidFill>
                  <a:srgbClr val="AEB8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o caminho que o código percorre </a:t>
            </a:r>
            <a:pPr algn="l" indent="0" marL="0">
              <a:lnSpc>
                <a:spcPct val="127424"/>
              </a:lnSpc>
              <a:buNone/>
            </a:pPr>
            <a:r>
              <a:rPr lang="en-US" sz="2175" b="1" dirty="0">
                <a:solidFill>
                  <a:srgbClr val="F8F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sozinho </a:t>
            </a:r>
            <a:pPr algn="l" indent="0" marL="0">
              <a:lnSpc>
                <a:spcPct val="127424"/>
              </a:lnSpc>
              <a:buNone/>
            </a:pPr>
            <a:r>
              <a:rPr lang="en-US" sz="2175" dirty="0">
                <a:solidFill>
                  <a:srgbClr val="AEB8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depois que o desenvolvedor termina.</a:t>
            </a:r>
            <a:endParaRPr lang="en-US" sz="2175" dirty="0"/>
          </a:p>
        </p:txBody>
      </p:sp>
      <p:sp>
        <p:nvSpPr>
          <p:cNvPr id="5" name="Shape 3"/>
          <p:cNvSpPr/>
          <p:nvPr/>
        </p:nvSpPr>
        <p:spPr>
          <a:xfrm>
            <a:off x="857250" y="5052864"/>
            <a:ext cx="1999952" cy="914400"/>
          </a:xfrm>
          <a:prstGeom prst="roundRect">
            <a:avLst>
              <a:gd name="adj" fmla="val 10417"/>
            </a:avLst>
          </a:prstGeom>
          <a:solidFill>
            <a:srgbClr val="2456C0"/>
          </a:solidFill>
          <a:ln/>
        </p:spPr>
      </p:sp>
      <p:sp>
        <p:nvSpPr>
          <p:cNvPr id="6" name="Text 4"/>
          <p:cNvSpPr/>
          <p:nvPr/>
        </p:nvSpPr>
        <p:spPr>
          <a:xfrm>
            <a:off x="819150" y="5052864"/>
            <a:ext cx="2076152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819150" y="6100614"/>
            <a:ext cx="2076152" cy="886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4231"/>
              </a:lnSpc>
              <a:buNone/>
            </a:pPr>
            <a:r>
              <a:rPr lang="en-US" sz="1650" dirty="0">
                <a:solidFill>
                  <a:srgbClr val="AEB8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desenvolvedor envia o código pronto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3009602" y="5548461"/>
            <a:ext cx="41910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3504902" y="5052864"/>
            <a:ext cx="1999952" cy="914400"/>
          </a:xfrm>
          <a:prstGeom prst="roundRect">
            <a:avLst>
              <a:gd name="adj" fmla="val 10417"/>
            </a:avLst>
          </a:prstGeom>
          <a:solidFill>
            <a:srgbClr val="2456C0"/>
          </a:solidFill>
          <a:ln/>
        </p:spPr>
      </p:sp>
      <p:sp>
        <p:nvSpPr>
          <p:cNvPr id="10" name="Text 8"/>
          <p:cNvSpPr/>
          <p:nvPr/>
        </p:nvSpPr>
        <p:spPr>
          <a:xfrm>
            <a:off x="3466802" y="5052864"/>
            <a:ext cx="2076152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Verificação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3466802" y="6100614"/>
            <a:ext cx="2076152" cy="886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4231"/>
              </a:lnSpc>
              <a:buNone/>
            </a:pPr>
            <a:r>
              <a:rPr lang="en-US" sz="1650" dirty="0">
                <a:solidFill>
                  <a:srgbClr val="AEB8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testes automáticos e varredura de segurança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5657255" y="5548461"/>
            <a:ext cx="41910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6152555" y="5052864"/>
            <a:ext cx="1999952" cy="914400"/>
          </a:xfrm>
          <a:prstGeom prst="roundRect">
            <a:avLst>
              <a:gd name="adj" fmla="val 10417"/>
            </a:avLst>
          </a:prstGeom>
          <a:solidFill>
            <a:srgbClr val="2456C0"/>
          </a:solidFill>
          <a:ln/>
        </p:spPr>
      </p:sp>
      <p:sp>
        <p:nvSpPr>
          <p:cNvPr id="14" name="Text 12"/>
          <p:cNvSpPr/>
          <p:nvPr/>
        </p:nvSpPr>
        <p:spPr>
          <a:xfrm>
            <a:off x="6114455" y="5052864"/>
            <a:ext cx="2076152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Empacotamento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6114455" y="6100614"/>
            <a:ext cx="2076152" cy="886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4231"/>
              </a:lnSpc>
              <a:buNone/>
            </a:pPr>
            <a:r>
              <a:rPr lang="en-US" sz="1650" dirty="0">
                <a:solidFill>
                  <a:srgbClr val="AEB8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vira um pacote pronto para rodar — feito uma vez só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8304907" y="5524649"/>
            <a:ext cx="305693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⇉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610600" y="4557861"/>
            <a:ext cx="2362200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7EA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dia a dia </a:t>
            </a:r>
            <a:pPr algn="r" indent="0" marL="0">
              <a:buNone/>
            </a:pPr>
            <a:r>
              <a:rPr lang="en-US" sz="165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para por aqui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1144250" y="4086374"/>
            <a:ext cx="1666875" cy="800100"/>
          </a:xfrm>
          <a:prstGeom prst="roundRect">
            <a:avLst>
              <a:gd name="adj" fmla="val 11905"/>
            </a:avLst>
          </a:prstGeom>
          <a:solidFill>
            <a:srgbClr val="2E7D55"/>
          </a:solidFill>
          <a:ln/>
        </p:spPr>
      </p:sp>
      <p:sp>
        <p:nvSpPr>
          <p:cNvPr id="19" name="Text 17"/>
          <p:cNvSpPr/>
          <p:nvPr/>
        </p:nvSpPr>
        <p:spPr>
          <a:xfrm>
            <a:off x="11106150" y="4086374"/>
            <a:ext cx="1743075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1133765" y="4962674"/>
            <a:ext cx="168769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75" dirty="0">
                <a:solidFill>
                  <a:srgbClr val="C6CD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desenvolvimento</a:t>
            </a:r>
            <a:endParaRPr lang="en-US" sz="1575" dirty="0"/>
          </a:p>
        </p:txBody>
      </p:sp>
      <p:sp>
        <p:nvSpPr>
          <p:cNvPr id="21" name="Text 19"/>
          <p:cNvSpPr/>
          <p:nvPr/>
        </p:nvSpPr>
        <p:spPr>
          <a:xfrm>
            <a:off x="11368683" y="5305574"/>
            <a:ext cx="121800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75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time valida</a:t>
            </a:r>
            <a:endParaRPr lang="en-US" sz="1575" dirty="0"/>
          </a:p>
        </p:txBody>
      </p:sp>
      <p:sp>
        <p:nvSpPr>
          <p:cNvPr id="22" name="Text 20"/>
          <p:cNvSpPr/>
          <p:nvPr/>
        </p:nvSpPr>
        <p:spPr>
          <a:xfrm>
            <a:off x="8610600" y="6681936"/>
            <a:ext cx="2362200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FB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fechar a versão </a:t>
            </a:r>
            <a:pPr algn="r" indent="0" marL="0">
              <a:buNone/>
            </a:pPr>
            <a:r>
              <a:rPr lang="en-US" sz="165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segue até o fim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1144250" y="6210449"/>
            <a:ext cx="1666875" cy="800100"/>
          </a:xfrm>
          <a:prstGeom prst="roundRect">
            <a:avLst>
              <a:gd name="adj" fmla="val 11905"/>
            </a:avLst>
          </a:prstGeom>
          <a:solidFill>
            <a:srgbClr val="2E7D55"/>
          </a:solidFill>
          <a:ln/>
        </p:spPr>
      </p:sp>
      <p:sp>
        <p:nvSpPr>
          <p:cNvPr id="24" name="Text 22"/>
          <p:cNvSpPr/>
          <p:nvPr/>
        </p:nvSpPr>
        <p:spPr>
          <a:xfrm>
            <a:off x="11106150" y="6210449"/>
            <a:ext cx="1743075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HML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11312203" y="7086749"/>
            <a:ext cx="133097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75" dirty="0">
                <a:solidFill>
                  <a:srgbClr val="C6CD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homologação</a:t>
            </a:r>
            <a:endParaRPr lang="en-US" sz="1575" dirty="0"/>
          </a:p>
        </p:txBody>
      </p:sp>
      <p:sp>
        <p:nvSpPr>
          <p:cNvPr id="26" name="Text 24"/>
          <p:cNvSpPr/>
          <p:nvPr/>
        </p:nvSpPr>
        <p:spPr>
          <a:xfrm>
            <a:off x="11476732" y="7429649"/>
            <a:ext cx="100176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75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QA testa</a:t>
            </a:r>
            <a:endParaRPr lang="en-US" sz="1575" dirty="0"/>
          </a:p>
        </p:txBody>
      </p:sp>
      <p:sp>
        <p:nvSpPr>
          <p:cNvPr id="27" name="Text 25"/>
          <p:cNvSpPr/>
          <p:nvPr/>
        </p:nvSpPr>
        <p:spPr>
          <a:xfrm>
            <a:off x="12982575" y="6534299"/>
            <a:ext cx="400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550" dirty="0"/>
          </a:p>
        </p:txBody>
      </p:sp>
      <p:sp>
        <p:nvSpPr>
          <p:cNvPr id="28" name="Shape 26"/>
          <p:cNvSpPr/>
          <p:nvPr/>
        </p:nvSpPr>
        <p:spPr>
          <a:xfrm>
            <a:off x="13754100" y="5991374"/>
            <a:ext cx="1066800" cy="1047750"/>
          </a:xfrm>
          <a:prstGeom prst="roundRect">
            <a:avLst>
              <a:gd name="adj" fmla="val 7273"/>
            </a:avLst>
          </a:prstGeom>
          <a:solidFill>
            <a:srgbClr val="D97A1A"/>
          </a:solidFill>
          <a:ln/>
          <a:effectLst>
            <a:outerShdw sx="100000" sy="100000" kx="0" ky="0" algn="bl" rotWithShape="0" blurRad="228600" dist="76200" dir="5400000">
              <a:srgbClr val="D97A1A">
                <a:alpha val="35000"/>
              </a:srgbClr>
            </a:outerShdw>
          </a:effectLst>
        </p:spPr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144625" y="6219974"/>
            <a:ext cx="285750" cy="28575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13802320" y="6581924"/>
            <a:ext cx="104641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3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aprovação</a:t>
            </a:r>
            <a:endParaRPr lang="en-US" sz="1575" dirty="0"/>
          </a:p>
        </p:txBody>
      </p:sp>
      <p:sp>
        <p:nvSpPr>
          <p:cNvPr id="31" name="Text 28"/>
          <p:cNvSpPr/>
          <p:nvPr/>
        </p:nvSpPr>
        <p:spPr>
          <a:xfrm>
            <a:off x="13439775" y="7115324"/>
            <a:ext cx="169545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0A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pessoa autoriza</a:t>
            </a:r>
            <a:endParaRPr lang="en-US" sz="1575" dirty="0"/>
          </a:p>
        </p:txBody>
      </p:sp>
      <p:sp>
        <p:nvSpPr>
          <p:cNvPr id="32" name="Text 29"/>
          <p:cNvSpPr/>
          <p:nvPr/>
        </p:nvSpPr>
        <p:spPr>
          <a:xfrm>
            <a:off x="13808125" y="7648724"/>
            <a:ext cx="95860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75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a GMUD</a:t>
            </a:r>
            <a:endParaRPr lang="en-US" sz="1575" dirty="0"/>
          </a:p>
        </p:txBody>
      </p:sp>
      <p:sp>
        <p:nvSpPr>
          <p:cNvPr id="33" name="Text 30"/>
          <p:cNvSpPr/>
          <p:nvPr/>
        </p:nvSpPr>
        <p:spPr>
          <a:xfrm>
            <a:off x="15268575" y="6534299"/>
            <a:ext cx="400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550" dirty="0"/>
          </a:p>
        </p:txBody>
      </p:sp>
      <p:sp>
        <p:nvSpPr>
          <p:cNvPr id="34" name="Shape 31"/>
          <p:cNvSpPr/>
          <p:nvPr/>
        </p:nvSpPr>
        <p:spPr>
          <a:xfrm>
            <a:off x="15763875" y="6210449"/>
            <a:ext cx="1666875" cy="800100"/>
          </a:xfrm>
          <a:prstGeom prst="roundRect">
            <a:avLst>
              <a:gd name="adj" fmla="val 11905"/>
            </a:avLst>
          </a:prstGeom>
          <a:solidFill>
            <a:srgbClr val="2E7D55"/>
          </a:solidFill>
          <a:ln/>
        </p:spPr>
      </p:sp>
      <p:sp>
        <p:nvSpPr>
          <p:cNvPr id="35" name="Text 32"/>
          <p:cNvSpPr/>
          <p:nvPr/>
        </p:nvSpPr>
        <p:spPr>
          <a:xfrm>
            <a:off x="15725775" y="6210449"/>
            <a:ext cx="1743075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PRD</a:t>
            </a:r>
            <a:endParaRPr lang="en-US" sz="2100" dirty="0"/>
          </a:p>
        </p:txBody>
      </p:sp>
      <p:sp>
        <p:nvSpPr>
          <p:cNvPr id="36" name="Text 33"/>
          <p:cNvSpPr/>
          <p:nvPr/>
        </p:nvSpPr>
        <p:spPr>
          <a:xfrm>
            <a:off x="16134457" y="7086749"/>
            <a:ext cx="92571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75" dirty="0">
                <a:solidFill>
                  <a:srgbClr val="C6CD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produção</a:t>
            </a:r>
            <a:endParaRPr lang="en-US" sz="1575" dirty="0"/>
          </a:p>
        </p:txBody>
      </p:sp>
      <p:sp>
        <p:nvSpPr>
          <p:cNvPr id="37" name="Text 34"/>
          <p:cNvSpPr/>
          <p:nvPr/>
        </p:nvSpPr>
        <p:spPr>
          <a:xfrm>
            <a:off x="15963602" y="7429649"/>
            <a:ext cx="126742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75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usuário usa</a:t>
            </a:r>
            <a:endParaRPr lang="en-US" sz="1575" dirty="0"/>
          </a:p>
        </p:txBody>
      </p:sp>
      <p:pic>
        <p:nvPicPr>
          <p:cNvPr id="3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01777" y="9791700"/>
            <a:ext cx="1419523" cy="2857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2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spc="-45" kern="0" dirty="0">
                <a:solidFill>
                  <a:srgbClr val="F8F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é um git workflow</a:t>
            </a:r>
            <a:endParaRPr lang="en-US" sz="4500" dirty="0"/>
          </a:p>
        </p:txBody>
      </p:sp>
      <p:sp>
        <p:nvSpPr>
          <p:cNvPr id="3" name="Shape 1"/>
          <p:cNvSpPr/>
          <p:nvPr/>
        </p:nvSpPr>
        <p:spPr>
          <a:xfrm>
            <a:off x="952500" y="4137422"/>
            <a:ext cx="3910013" cy="2936081"/>
          </a:xfrm>
          <a:prstGeom prst="roundRect">
            <a:avLst>
              <a:gd name="adj" fmla="val 3893"/>
            </a:avLst>
          </a:prstGeom>
          <a:solidFill>
            <a:srgbClr val="26333F"/>
          </a:solidFill>
          <a:ln/>
        </p:spPr>
      </p:sp>
      <p:sp>
        <p:nvSpPr>
          <p:cNvPr id="4" name="Shape 2"/>
          <p:cNvSpPr/>
          <p:nvPr/>
        </p:nvSpPr>
        <p:spPr>
          <a:xfrm>
            <a:off x="952500" y="7063978"/>
            <a:ext cx="3910013" cy="9525"/>
          </a:xfrm>
          <a:prstGeom prst="rect">
            <a:avLst/>
          </a:prstGeom>
          <a:solidFill>
            <a:srgbClr val="3B4756"/>
          </a:solidFill>
          <a:ln/>
        </p:spPr>
      </p:sp>
      <p:sp>
        <p:nvSpPr>
          <p:cNvPr id="5" name="Shape 3"/>
          <p:cNvSpPr/>
          <p:nvPr/>
        </p:nvSpPr>
        <p:spPr>
          <a:xfrm>
            <a:off x="952500" y="4137422"/>
            <a:ext cx="3910013" cy="57150"/>
          </a:xfrm>
          <a:prstGeom prst="rect">
            <a:avLst/>
          </a:prstGeom>
          <a:solidFill>
            <a:srgbClr val="F8F8F7"/>
          </a:solidFill>
          <a:ln/>
        </p:spPr>
      </p:sp>
      <p:sp>
        <p:nvSpPr>
          <p:cNvPr id="6" name="Shape 4"/>
          <p:cNvSpPr/>
          <p:nvPr/>
        </p:nvSpPr>
        <p:spPr>
          <a:xfrm>
            <a:off x="952500" y="4137422"/>
            <a:ext cx="9525" cy="2936081"/>
          </a:xfrm>
          <a:prstGeom prst="rect">
            <a:avLst/>
          </a:prstGeom>
          <a:solidFill>
            <a:srgbClr val="3B4756"/>
          </a:solidFill>
          <a:ln/>
        </p:spPr>
      </p:sp>
      <p:sp>
        <p:nvSpPr>
          <p:cNvPr id="7" name="Shape 5"/>
          <p:cNvSpPr/>
          <p:nvPr/>
        </p:nvSpPr>
        <p:spPr>
          <a:xfrm>
            <a:off x="4852988" y="4137422"/>
            <a:ext cx="9525" cy="2936081"/>
          </a:xfrm>
          <a:prstGeom prst="rect">
            <a:avLst/>
          </a:prstGeom>
          <a:solidFill>
            <a:srgbClr val="3B4756"/>
          </a:solidFill>
          <a:ln/>
        </p:spPr>
      </p:sp>
      <p:sp>
        <p:nvSpPr>
          <p:cNvPr id="8" name="Text 6"/>
          <p:cNvSpPr/>
          <p:nvPr/>
        </p:nvSpPr>
        <p:spPr>
          <a:xfrm>
            <a:off x="1266825" y="4480322"/>
            <a:ext cx="360949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F8F8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en-US" sz="1875" dirty="0"/>
          </a:p>
        </p:txBody>
      </p:sp>
      <p:sp>
        <p:nvSpPr>
          <p:cNvPr id="9" name="Text 7"/>
          <p:cNvSpPr/>
          <p:nvPr/>
        </p:nvSpPr>
        <p:spPr>
          <a:xfrm>
            <a:off x="1266825" y="4927997"/>
            <a:ext cx="3609499" cy="383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848"/>
              </a:lnSpc>
              <a:buNone/>
            </a:pPr>
            <a:r>
              <a:rPr lang="en-US" sz="2175" b="1" dirty="0">
                <a:solidFill>
                  <a:srgbClr val="F8F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está no ar</a:t>
            </a:r>
            <a:endParaRPr lang="en-US" sz="2175" dirty="0"/>
          </a:p>
        </p:txBody>
      </p:sp>
      <p:sp>
        <p:nvSpPr>
          <p:cNvPr id="10" name="Text 8"/>
          <p:cNvSpPr/>
          <p:nvPr/>
        </p:nvSpPr>
        <p:spPr>
          <a:xfrm>
            <a:off x="1266825" y="5406628"/>
            <a:ext cx="3379803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AEB8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a fotografia exata do que os usuários estão usando agora. Ninguém trabalha direto nela.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110163" y="4137422"/>
            <a:ext cx="3910013" cy="2936081"/>
          </a:xfrm>
          <a:prstGeom prst="roundRect">
            <a:avLst>
              <a:gd name="adj" fmla="val 3893"/>
            </a:avLst>
          </a:prstGeom>
          <a:solidFill>
            <a:srgbClr val="26333F"/>
          </a:solidFill>
          <a:ln/>
        </p:spPr>
      </p:sp>
      <p:sp>
        <p:nvSpPr>
          <p:cNvPr id="12" name="Shape 10"/>
          <p:cNvSpPr/>
          <p:nvPr/>
        </p:nvSpPr>
        <p:spPr>
          <a:xfrm>
            <a:off x="5110163" y="7063978"/>
            <a:ext cx="3910013" cy="9525"/>
          </a:xfrm>
          <a:prstGeom prst="rect">
            <a:avLst/>
          </a:prstGeom>
          <a:solidFill>
            <a:srgbClr val="3B4756"/>
          </a:solidFill>
          <a:ln/>
        </p:spPr>
      </p:sp>
      <p:sp>
        <p:nvSpPr>
          <p:cNvPr id="13" name="Shape 11"/>
          <p:cNvSpPr/>
          <p:nvPr/>
        </p:nvSpPr>
        <p:spPr>
          <a:xfrm>
            <a:off x="5110163" y="4137422"/>
            <a:ext cx="3910013" cy="57150"/>
          </a:xfrm>
          <a:prstGeom prst="rect">
            <a:avLst/>
          </a:prstGeom>
          <a:solidFill>
            <a:srgbClr val="7EA4F2"/>
          </a:solidFill>
          <a:ln/>
        </p:spPr>
      </p:sp>
      <p:sp>
        <p:nvSpPr>
          <p:cNvPr id="14" name="Shape 12"/>
          <p:cNvSpPr/>
          <p:nvPr/>
        </p:nvSpPr>
        <p:spPr>
          <a:xfrm>
            <a:off x="5110163" y="4137422"/>
            <a:ext cx="9525" cy="2936081"/>
          </a:xfrm>
          <a:prstGeom prst="rect">
            <a:avLst/>
          </a:prstGeom>
          <a:solidFill>
            <a:srgbClr val="3B4756"/>
          </a:solidFill>
          <a:ln/>
        </p:spPr>
      </p:sp>
      <p:sp>
        <p:nvSpPr>
          <p:cNvPr id="15" name="Shape 13"/>
          <p:cNvSpPr/>
          <p:nvPr/>
        </p:nvSpPr>
        <p:spPr>
          <a:xfrm>
            <a:off x="9010650" y="4137422"/>
            <a:ext cx="9525" cy="2936081"/>
          </a:xfrm>
          <a:prstGeom prst="rect">
            <a:avLst/>
          </a:prstGeom>
          <a:solidFill>
            <a:srgbClr val="3B4756"/>
          </a:solidFill>
          <a:ln/>
        </p:spPr>
      </p:sp>
      <p:sp>
        <p:nvSpPr>
          <p:cNvPr id="16" name="Text 14"/>
          <p:cNvSpPr/>
          <p:nvPr/>
        </p:nvSpPr>
        <p:spPr>
          <a:xfrm>
            <a:off x="5424488" y="4480322"/>
            <a:ext cx="360949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7EA4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5424488" y="4927997"/>
            <a:ext cx="3609499" cy="383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848"/>
              </a:lnSpc>
              <a:buNone/>
            </a:pPr>
            <a:r>
              <a:rPr lang="en-US" sz="2175" b="1" dirty="0">
                <a:solidFill>
                  <a:srgbClr val="F8F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o time trabalha</a:t>
            </a:r>
            <a:endParaRPr lang="en-US" sz="2175" dirty="0"/>
          </a:p>
        </p:txBody>
      </p:sp>
      <p:sp>
        <p:nvSpPr>
          <p:cNvPr id="18" name="Text 16"/>
          <p:cNvSpPr/>
          <p:nvPr/>
        </p:nvSpPr>
        <p:spPr>
          <a:xfrm>
            <a:off x="5424488" y="5406628"/>
            <a:ext cx="3379803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AEB8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funcionalidade pronta é somada aqui. Mostra o que a equipe construiu — não o que já foi publicado.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267825" y="4137422"/>
            <a:ext cx="3910013" cy="2936081"/>
          </a:xfrm>
          <a:prstGeom prst="roundRect">
            <a:avLst>
              <a:gd name="adj" fmla="val 3893"/>
            </a:avLst>
          </a:prstGeom>
          <a:solidFill>
            <a:srgbClr val="26333F"/>
          </a:solidFill>
          <a:ln/>
        </p:spPr>
      </p:sp>
      <p:sp>
        <p:nvSpPr>
          <p:cNvPr id="20" name="Shape 18"/>
          <p:cNvSpPr/>
          <p:nvPr/>
        </p:nvSpPr>
        <p:spPr>
          <a:xfrm>
            <a:off x="9267825" y="7063978"/>
            <a:ext cx="3910013" cy="9525"/>
          </a:xfrm>
          <a:prstGeom prst="rect">
            <a:avLst/>
          </a:prstGeom>
          <a:solidFill>
            <a:srgbClr val="3B4756"/>
          </a:solidFill>
          <a:ln/>
        </p:spPr>
      </p:sp>
      <p:sp>
        <p:nvSpPr>
          <p:cNvPr id="21" name="Shape 19"/>
          <p:cNvSpPr/>
          <p:nvPr/>
        </p:nvSpPr>
        <p:spPr>
          <a:xfrm>
            <a:off x="9267825" y="4137422"/>
            <a:ext cx="3910013" cy="57150"/>
          </a:xfrm>
          <a:prstGeom prst="rect">
            <a:avLst/>
          </a:prstGeom>
          <a:solidFill>
            <a:srgbClr val="5FBC8C"/>
          </a:solidFill>
          <a:ln/>
        </p:spPr>
      </p:sp>
      <p:sp>
        <p:nvSpPr>
          <p:cNvPr id="22" name="Shape 20"/>
          <p:cNvSpPr/>
          <p:nvPr/>
        </p:nvSpPr>
        <p:spPr>
          <a:xfrm>
            <a:off x="9267825" y="4137422"/>
            <a:ext cx="9525" cy="2936081"/>
          </a:xfrm>
          <a:prstGeom prst="rect">
            <a:avLst/>
          </a:prstGeom>
          <a:solidFill>
            <a:srgbClr val="3B4756"/>
          </a:solidFill>
          <a:ln/>
        </p:spPr>
      </p:sp>
      <p:sp>
        <p:nvSpPr>
          <p:cNvPr id="23" name="Shape 21"/>
          <p:cNvSpPr/>
          <p:nvPr/>
        </p:nvSpPr>
        <p:spPr>
          <a:xfrm>
            <a:off x="13168313" y="4137422"/>
            <a:ext cx="9525" cy="2936081"/>
          </a:xfrm>
          <a:prstGeom prst="rect">
            <a:avLst/>
          </a:prstGeom>
          <a:solidFill>
            <a:srgbClr val="3B4756"/>
          </a:solidFill>
          <a:ln/>
        </p:spPr>
      </p:sp>
      <p:sp>
        <p:nvSpPr>
          <p:cNvPr id="24" name="Text 22"/>
          <p:cNvSpPr/>
          <p:nvPr/>
        </p:nvSpPr>
        <p:spPr>
          <a:xfrm>
            <a:off x="9582150" y="4480322"/>
            <a:ext cx="360949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5FB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release/*</a:t>
            </a:r>
            <a:endParaRPr lang="en-US" sz="1875" dirty="0"/>
          </a:p>
        </p:txBody>
      </p:sp>
      <p:sp>
        <p:nvSpPr>
          <p:cNvPr id="25" name="Text 23"/>
          <p:cNvSpPr/>
          <p:nvPr/>
        </p:nvSpPr>
        <p:spPr>
          <a:xfrm>
            <a:off x="9582150" y="4927997"/>
            <a:ext cx="3609499" cy="383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848"/>
              </a:lnSpc>
              <a:buNone/>
            </a:pPr>
            <a:r>
              <a:rPr lang="en-US" sz="2175" b="1" dirty="0">
                <a:solidFill>
                  <a:srgbClr val="F8F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pacote da entrega</a:t>
            </a:r>
            <a:endParaRPr lang="en-US" sz="2175" dirty="0"/>
          </a:p>
        </p:txBody>
      </p:sp>
      <p:sp>
        <p:nvSpPr>
          <p:cNvPr id="26" name="Text 24"/>
          <p:cNvSpPr/>
          <p:nvPr/>
        </p:nvSpPr>
        <p:spPr>
          <a:xfrm>
            <a:off x="9582150" y="5406628"/>
            <a:ext cx="3379803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AEB8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Nasce do que está no ar e recebe só o que foi escolhido para esta entrega. O que não está pronto fica de fora.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3425488" y="4137422"/>
            <a:ext cx="3910013" cy="2936081"/>
          </a:xfrm>
          <a:prstGeom prst="roundRect">
            <a:avLst>
              <a:gd name="adj" fmla="val 3893"/>
            </a:avLst>
          </a:prstGeom>
          <a:solidFill>
            <a:srgbClr val="26333F"/>
          </a:solidFill>
          <a:ln/>
        </p:spPr>
      </p:sp>
      <p:sp>
        <p:nvSpPr>
          <p:cNvPr id="28" name="Shape 26"/>
          <p:cNvSpPr/>
          <p:nvPr/>
        </p:nvSpPr>
        <p:spPr>
          <a:xfrm>
            <a:off x="13425488" y="7063978"/>
            <a:ext cx="3910013" cy="9525"/>
          </a:xfrm>
          <a:prstGeom prst="rect">
            <a:avLst/>
          </a:prstGeom>
          <a:solidFill>
            <a:srgbClr val="3B4756"/>
          </a:solidFill>
          <a:ln/>
        </p:spPr>
      </p:sp>
      <p:sp>
        <p:nvSpPr>
          <p:cNvPr id="29" name="Shape 27"/>
          <p:cNvSpPr/>
          <p:nvPr/>
        </p:nvSpPr>
        <p:spPr>
          <a:xfrm>
            <a:off x="13425488" y="4137422"/>
            <a:ext cx="3910013" cy="57150"/>
          </a:xfrm>
          <a:prstGeom prst="rect">
            <a:avLst/>
          </a:prstGeom>
          <a:solidFill>
            <a:srgbClr val="F0A94F"/>
          </a:solidFill>
          <a:ln/>
        </p:spPr>
      </p:sp>
      <p:sp>
        <p:nvSpPr>
          <p:cNvPr id="30" name="Shape 28"/>
          <p:cNvSpPr/>
          <p:nvPr/>
        </p:nvSpPr>
        <p:spPr>
          <a:xfrm>
            <a:off x="13425488" y="4137422"/>
            <a:ext cx="9525" cy="2936081"/>
          </a:xfrm>
          <a:prstGeom prst="rect">
            <a:avLst/>
          </a:prstGeom>
          <a:solidFill>
            <a:srgbClr val="3B4756"/>
          </a:solidFill>
          <a:ln/>
        </p:spPr>
      </p:sp>
      <p:sp>
        <p:nvSpPr>
          <p:cNvPr id="31" name="Shape 29"/>
          <p:cNvSpPr/>
          <p:nvPr/>
        </p:nvSpPr>
        <p:spPr>
          <a:xfrm>
            <a:off x="17325975" y="4137422"/>
            <a:ext cx="9525" cy="2936081"/>
          </a:xfrm>
          <a:prstGeom prst="rect">
            <a:avLst/>
          </a:prstGeom>
          <a:solidFill>
            <a:srgbClr val="3B4756"/>
          </a:solidFill>
          <a:ln/>
        </p:spPr>
      </p:sp>
      <p:sp>
        <p:nvSpPr>
          <p:cNvPr id="32" name="Text 30"/>
          <p:cNvSpPr/>
          <p:nvPr/>
        </p:nvSpPr>
        <p:spPr>
          <a:xfrm>
            <a:off x="13739813" y="4480322"/>
            <a:ext cx="360949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F0A9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hotfix/*</a:t>
            </a:r>
            <a:endParaRPr lang="en-US" sz="1875" dirty="0"/>
          </a:p>
        </p:txBody>
      </p:sp>
      <p:sp>
        <p:nvSpPr>
          <p:cNvPr id="33" name="Text 31"/>
          <p:cNvSpPr/>
          <p:nvPr/>
        </p:nvSpPr>
        <p:spPr>
          <a:xfrm>
            <a:off x="13739813" y="4927997"/>
            <a:ext cx="3609499" cy="383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848"/>
              </a:lnSpc>
              <a:buNone/>
            </a:pPr>
            <a:r>
              <a:rPr lang="en-US" sz="2175" b="1" dirty="0">
                <a:solidFill>
                  <a:srgbClr val="F8F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conserto urgente</a:t>
            </a:r>
            <a:endParaRPr lang="en-US" sz="2175" dirty="0"/>
          </a:p>
        </p:txBody>
      </p:sp>
      <p:sp>
        <p:nvSpPr>
          <p:cNvPr id="34" name="Text 32"/>
          <p:cNvSpPr/>
          <p:nvPr/>
        </p:nvSpPr>
        <p:spPr>
          <a:xfrm>
            <a:off x="13739813" y="5406628"/>
            <a:ext cx="3379803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AEB8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 quebrou para o usuário. Corrige em cima do que está no ar, sem esperar a próxima entrega.</a:t>
            </a:r>
            <a:endParaRPr lang="en-US" sz="1800" dirty="0"/>
          </a:p>
        </p:txBody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01777" y="9791700"/>
            <a:ext cx="1419523" cy="2857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2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143000"/>
            <a:ext cx="18021300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48" kern="0" dirty="0">
                <a:solidFill>
                  <a:srgbClr val="F8F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workflow no tempo</a:t>
            </a:r>
            <a:endParaRPr lang="en-US" sz="4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2676525"/>
            <a:ext cx="16383000" cy="628650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01777" y="9791700"/>
            <a:ext cx="1419523" cy="2857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2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ESTRATÉGIA DE BRANCHES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238250"/>
            <a:ext cx="18021300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48" kern="0" dirty="0">
                <a:solidFill>
                  <a:srgbClr val="F8F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caminhos, uma única esteira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2476500"/>
            <a:ext cx="16383000" cy="1478161"/>
          </a:xfrm>
          <a:prstGeom prst="roundRect">
            <a:avLst>
              <a:gd name="adj" fmla="val 7733"/>
            </a:avLst>
          </a:prstGeom>
          <a:solidFill>
            <a:srgbClr val="26333F"/>
          </a:solidFill>
          <a:ln/>
        </p:spPr>
      </p:sp>
      <p:sp>
        <p:nvSpPr>
          <p:cNvPr id="5" name="Shape 3"/>
          <p:cNvSpPr/>
          <p:nvPr/>
        </p:nvSpPr>
        <p:spPr>
          <a:xfrm>
            <a:off x="952500" y="3945136"/>
            <a:ext cx="16383000" cy="9525"/>
          </a:xfrm>
          <a:prstGeom prst="rect">
            <a:avLst/>
          </a:prstGeom>
          <a:solidFill>
            <a:srgbClr val="3B4756"/>
          </a:solidFill>
          <a:ln/>
        </p:spPr>
      </p:sp>
      <p:sp>
        <p:nvSpPr>
          <p:cNvPr id="6" name="Shape 4"/>
          <p:cNvSpPr/>
          <p:nvPr/>
        </p:nvSpPr>
        <p:spPr>
          <a:xfrm>
            <a:off x="952500" y="2476500"/>
            <a:ext cx="16383000" cy="9525"/>
          </a:xfrm>
          <a:prstGeom prst="rect">
            <a:avLst/>
          </a:prstGeom>
          <a:solidFill>
            <a:srgbClr val="3B4756"/>
          </a:solidFill>
          <a:ln/>
        </p:spPr>
      </p:sp>
      <p:sp>
        <p:nvSpPr>
          <p:cNvPr id="7" name="Shape 5"/>
          <p:cNvSpPr/>
          <p:nvPr/>
        </p:nvSpPr>
        <p:spPr>
          <a:xfrm>
            <a:off x="952500" y="2476500"/>
            <a:ext cx="95250" cy="1478161"/>
          </a:xfrm>
          <a:prstGeom prst="rect">
            <a:avLst/>
          </a:prstGeom>
          <a:solidFill>
            <a:srgbClr val="2456C0"/>
          </a:solidFill>
          <a:ln/>
        </p:spPr>
      </p:sp>
      <p:sp>
        <p:nvSpPr>
          <p:cNvPr id="8" name="Shape 6"/>
          <p:cNvSpPr/>
          <p:nvPr/>
        </p:nvSpPr>
        <p:spPr>
          <a:xfrm>
            <a:off x="17325975" y="2476500"/>
            <a:ext cx="9525" cy="1478161"/>
          </a:xfrm>
          <a:prstGeom prst="rect">
            <a:avLst/>
          </a:prstGeom>
          <a:solidFill>
            <a:srgbClr val="3B4756"/>
          </a:solidFill>
          <a:ln/>
        </p:spPr>
      </p:sp>
      <p:sp>
        <p:nvSpPr>
          <p:cNvPr id="9" name="Text 7"/>
          <p:cNvSpPr/>
          <p:nvPr/>
        </p:nvSpPr>
        <p:spPr>
          <a:xfrm>
            <a:off x="1504950" y="2844105"/>
            <a:ext cx="35623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7EA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 A DIA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504950" y="3263205"/>
            <a:ext cx="35623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AEB8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 · sandbox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5124450" y="2828925"/>
            <a:ext cx="7583710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2100" dirty="0">
                <a:solidFill>
                  <a:srgbClr val="C6CD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Gatilho automático a cada push. Vai até o ambiente de desenvolvimento e para.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2468225" y="3048893"/>
            <a:ext cx="440055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5FB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dev ∎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952500" y="4259461"/>
            <a:ext cx="16383000" cy="1478161"/>
          </a:xfrm>
          <a:prstGeom prst="roundRect">
            <a:avLst>
              <a:gd name="adj" fmla="val 7733"/>
            </a:avLst>
          </a:prstGeom>
          <a:solidFill>
            <a:srgbClr val="26333F"/>
          </a:solidFill>
          <a:ln/>
        </p:spPr>
      </p:sp>
      <p:sp>
        <p:nvSpPr>
          <p:cNvPr id="14" name="Shape 12"/>
          <p:cNvSpPr/>
          <p:nvPr/>
        </p:nvSpPr>
        <p:spPr>
          <a:xfrm>
            <a:off x="952500" y="5728097"/>
            <a:ext cx="16383000" cy="9525"/>
          </a:xfrm>
          <a:prstGeom prst="rect">
            <a:avLst/>
          </a:prstGeom>
          <a:solidFill>
            <a:srgbClr val="3B4756"/>
          </a:solidFill>
          <a:ln/>
        </p:spPr>
      </p:sp>
      <p:sp>
        <p:nvSpPr>
          <p:cNvPr id="15" name="Shape 13"/>
          <p:cNvSpPr/>
          <p:nvPr/>
        </p:nvSpPr>
        <p:spPr>
          <a:xfrm>
            <a:off x="952500" y="4259461"/>
            <a:ext cx="16383000" cy="9525"/>
          </a:xfrm>
          <a:prstGeom prst="rect">
            <a:avLst/>
          </a:prstGeom>
          <a:solidFill>
            <a:srgbClr val="3B4756"/>
          </a:solidFill>
          <a:ln/>
        </p:spPr>
      </p:sp>
      <p:sp>
        <p:nvSpPr>
          <p:cNvPr id="16" name="Shape 14"/>
          <p:cNvSpPr/>
          <p:nvPr/>
        </p:nvSpPr>
        <p:spPr>
          <a:xfrm>
            <a:off x="952500" y="4259461"/>
            <a:ext cx="95250" cy="1478161"/>
          </a:xfrm>
          <a:prstGeom prst="rect">
            <a:avLst/>
          </a:prstGeom>
          <a:solidFill>
            <a:srgbClr val="2E7D55"/>
          </a:solidFill>
          <a:ln/>
        </p:spPr>
      </p:sp>
      <p:sp>
        <p:nvSpPr>
          <p:cNvPr id="17" name="Shape 15"/>
          <p:cNvSpPr/>
          <p:nvPr/>
        </p:nvSpPr>
        <p:spPr>
          <a:xfrm>
            <a:off x="17325975" y="4259461"/>
            <a:ext cx="9525" cy="1478161"/>
          </a:xfrm>
          <a:prstGeom prst="rect">
            <a:avLst/>
          </a:prstGeom>
          <a:solidFill>
            <a:srgbClr val="3B4756"/>
          </a:solidFill>
          <a:ln/>
        </p:spPr>
      </p:sp>
      <p:sp>
        <p:nvSpPr>
          <p:cNvPr id="18" name="Text 16"/>
          <p:cNvSpPr/>
          <p:nvPr/>
        </p:nvSpPr>
        <p:spPr>
          <a:xfrm>
            <a:off x="1504950" y="4627066"/>
            <a:ext cx="35623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5FB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504950" y="5046166"/>
            <a:ext cx="35623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AEB8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release/*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5124450" y="4611886"/>
            <a:ext cx="7583710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2100" dirty="0">
                <a:solidFill>
                  <a:srgbClr val="C6CD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 de acúmulo, fora do gatilho automático de propósito. Execução manual quando a versão fecha.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2468225" y="4836616"/>
            <a:ext cx="44005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5FB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hml → prd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952500" y="6042422"/>
            <a:ext cx="16383000" cy="1478161"/>
          </a:xfrm>
          <a:prstGeom prst="roundRect">
            <a:avLst>
              <a:gd name="adj" fmla="val 7733"/>
            </a:avLst>
          </a:prstGeom>
          <a:solidFill>
            <a:srgbClr val="26333F"/>
          </a:solidFill>
          <a:ln/>
        </p:spPr>
      </p:sp>
      <p:sp>
        <p:nvSpPr>
          <p:cNvPr id="23" name="Shape 21"/>
          <p:cNvSpPr/>
          <p:nvPr/>
        </p:nvSpPr>
        <p:spPr>
          <a:xfrm>
            <a:off x="952500" y="7511058"/>
            <a:ext cx="16383000" cy="9525"/>
          </a:xfrm>
          <a:prstGeom prst="rect">
            <a:avLst/>
          </a:prstGeom>
          <a:solidFill>
            <a:srgbClr val="3B4756"/>
          </a:solidFill>
          <a:ln/>
        </p:spPr>
      </p:sp>
      <p:sp>
        <p:nvSpPr>
          <p:cNvPr id="24" name="Shape 22"/>
          <p:cNvSpPr/>
          <p:nvPr/>
        </p:nvSpPr>
        <p:spPr>
          <a:xfrm>
            <a:off x="952500" y="6042422"/>
            <a:ext cx="16383000" cy="9525"/>
          </a:xfrm>
          <a:prstGeom prst="rect">
            <a:avLst/>
          </a:prstGeom>
          <a:solidFill>
            <a:srgbClr val="3B4756"/>
          </a:solidFill>
          <a:ln/>
        </p:spPr>
      </p:sp>
      <p:sp>
        <p:nvSpPr>
          <p:cNvPr id="25" name="Shape 23"/>
          <p:cNvSpPr/>
          <p:nvPr/>
        </p:nvSpPr>
        <p:spPr>
          <a:xfrm>
            <a:off x="952500" y="6042422"/>
            <a:ext cx="95250" cy="1478161"/>
          </a:xfrm>
          <a:prstGeom prst="rect">
            <a:avLst/>
          </a:prstGeom>
          <a:solidFill>
            <a:srgbClr val="D97A1A"/>
          </a:solidFill>
          <a:ln/>
        </p:spPr>
      </p:sp>
      <p:sp>
        <p:nvSpPr>
          <p:cNvPr id="26" name="Shape 24"/>
          <p:cNvSpPr/>
          <p:nvPr/>
        </p:nvSpPr>
        <p:spPr>
          <a:xfrm>
            <a:off x="17325975" y="6042422"/>
            <a:ext cx="9525" cy="1478161"/>
          </a:xfrm>
          <a:prstGeom prst="rect">
            <a:avLst/>
          </a:prstGeom>
          <a:solidFill>
            <a:srgbClr val="3B4756"/>
          </a:solidFill>
          <a:ln/>
        </p:spPr>
      </p:sp>
      <p:sp>
        <p:nvSpPr>
          <p:cNvPr id="27" name="Text 25"/>
          <p:cNvSpPr/>
          <p:nvPr/>
        </p:nvSpPr>
        <p:spPr>
          <a:xfrm>
            <a:off x="1504950" y="6410027"/>
            <a:ext cx="35623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0A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EMERGÊNCIA</a:t>
            </a:r>
            <a:endParaRPr lang="en-US" sz="2250" dirty="0"/>
          </a:p>
        </p:txBody>
      </p:sp>
      <p:sp>
        <p:nvSpPr>
          <p:cNvPr id="28" name="Text 26"/>
          <p:cNvSpPr/>
          <p:nvPr/>
        </p:nvSpPr>
        <p:spPr>
          <a:xfrm>
            <a:off x="1504950" y="6829127"/>
            <a:ext cx="35623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AEB8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hotfix/*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5124450" y="6394847"/>
            <a:ext cx="7583710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2100" dirty="0">
                <a:solidFill>
                  <a:srgbClr val="C6CD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Gatilho automático. Pula homologação e vai direto para produção.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12468225" y="6619577"/>
            <a:ext cx="44005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F0A9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prd (direto)</a:t>
            </a:r>
            <a:endParaRPr lang="en-US" sz="1950" dirty="0"/>
          </a:p>
        </p:txBody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01777" y="9791700"/>
            <a:ext cx="1419523" cy="2857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2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7250" y="857250"/>
            <a:ext cx="182308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CAMINHO 2 DE 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57250" y="1238250"/>
            <a:ext cx="18230850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48" kern="0" dirty="0">
                <a:solidFill>
                  <a:srgbClr val="F8F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caminho release/*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57250" y="2095500"/>
            <a:ext cx="182308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0A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gatilho automático — a promoção é uma execução manual, quando o pacote da versão fecha.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981819" y="5524500"/>
            <a:ext cx="1714500" cy="876300"/>
          </a:xfrm>
          <a:prstGeom prst="roundRect">
            <a:avLst>
              <a:gd name="adj" fmla="val 10870"/>
            </a:avLst>
          </a:prstGeom>
          <a:solidFill>
            <a:srgbClr val="2456C0"/>
          </a:solidFill>
          <a:ln/>
        </p:spPr>
      </p:sp>
      <p:sp>
        <p:nvSpPr>
          <p:cNvPr id="6" name="Text 4"/>
          <p:cNvSpPr/>
          <p:nvPr/>
        </p:nvSpPr>
        <p:spPr>
          <a:xfrm>
            <a:off x="943719" y="5524500"/>
            <a:ext cx="179070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2848719" y="5753100"/>
            <a:ext cx="400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3324969" y="5524500"/>
            <a:ext cx="1809750" cy="876300"/>
          </a:xfrm>
          <a:prstGeom prst="roundRect">
            <a:avLst>
              <a:gd name="adj" fmla="val 10870"/>
            </a:avLst>
          </a:prstGeom>
          <a:solidFill>
            <a:srgbClr val="2456C0"/>
          </a:solidFill>
          <a:ln/>
        </p:spPr>
      </p:sp>
      <p:sp>
        <p:nvSpPr>
          <p:cNvPr id="9" name="Text 7"/>
          <p:cNvSpPr/>
          <p:nvPr/>
        </p:nvSpPr>
        <p:spPr>
          <a:xfrm>
            <a:off x="3286869" y="5524500"/>
            <a:ext cx="188595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SonarQube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5287119" y="5753100"/>
            <a:ext cx="400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5763369" y="5524500"/>
            <a:ext cx="1524000" cy="876300"/>
          </a:xfrm>
          <a:prstGeom prst="roundRect">
            <a:avLst>
              <a:gd name="adj" fmla="val 10870"/>
            </a:avLst>
          </a:prstGeom>
          <a:solidFill>
            <a:srgbClr val="2456C0"/>
          </a:solidFill>
          <a:ln/>
        </p:spPr>
      </p:sp>
      <p:sp>
        <p:nvSpPr>
          <p:cNvPr id="12" name="Text 10"/>
          <p:cNvSpPr/>
          <p:nvPr/>
        </p:nvSpPr>
        <p:spPr>
          <a:xfrm>
            <a:off x="5725269" y="5524500"/>
            <a:ext cx="160020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7439769" y="5753100"/>
            <a:ext cx="27131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⇉</a:t>
            </a:r>
            <a:endParaRPr lang="en-US" sz="2550" dirty="0"/>
          </a:p>
        </p:txBody>
      </p:sp>
      <p:sp>
        <p:nvSpPr>
          <p:cNvPr id="14" name="Shape 12"/>
          <p:cNvSpPr/>
          <p:nvPr/>
        </p:nvSpPr>
        <p:spPr>
          <a:xfrm>
            <a:off x="7787283" y="4991100"/>
            <a:ext cx="2190750" cy="876300"/>
          </a:xfrm>
          <a:prstGeom prst="roundRect">
            <a:avLst>
              <a:gd name="adj" fmla="val 10870"/>
            </a:avLst>
          </a:prstGeom>
          <a:solidFill>
            <a:srgbClr val="2E7D55"/>
          </a:solidFill>
          <a:ln/>
        </p:spPr>
      </p:sp>
      <p:sp>
        <p:nvSpPr>
          <p:cNvPr id="15" name="Text 13"/>
          <p:cNvSpPr/>
          <p:nvPr/>
        </p:nvSpPr>
        <p:spPr>
          <a:xfrm>
            <a:off x="7749183" y="4991100"/>
            <a:ext cx="226695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Homologação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7787283" y="6057900"/>
            <a:ext cx="2190750" cy="876300"/>
          </a:xfrm>
          <a:prstGeom prst="roundRect">
            <a:avLst>
              <a:gd name="adj" fmla="val 10870"/>
            </a:avLst>
          </a:prstGeom>
          <a:solidFill>
            <a:srgbClr val="2456C0"/>
          </a:solidFill>
          <a:ln/>
        </p:spPr>
      </p:sp>
      <p:sp>
        <p:nvSpPr>
          <p:cNvPr id="17" name="Text 15"/>
          <p:cNvSpPr/>
          <p:nvPr/>
        </p:nvSpPr>
        <p:spPr>
          <a:xfrm>
            <a:off x="7749183" y="6057900"/>
            <a:ext cx="226695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Veracode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0130433" y="5753100"/>
            <a:ext cx="27131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⇉</a:t>
            </a:r>
            <a:endParaRPr lang="en-US" sz="2550" dirty="0"/>
          </a:p>
        </p:txBody>
      </p:sp>
      <p:sp>
        <p:nvSpPr>
          <p:cNvPr id="19" name="Shape 17"/>
          <p:cNvSpPr/>
          <p:nvPr/>
        </p:nvSpPr>
        <p:spPr>
          <a:xfrm>
            <a:off x="10477946" y="5295900"/>
            <a:ext cx="876300" cy="1333500"/>
          </a:xfrm>
          <a:prstGeom prst="roundRect">
            <a:avLst>
              <a:gd name="adj" fmla="val 8696"/>
            </a:avLst>
          </a:prstGeom>
          <a:solidFill>
            <a:srgbClr val="D97A1A"/>
          </a:solidFill>
          <a:ln/>
          <a:effectLst>
            <a:outerShdw sx="100000" sy="100000" kx="0" ky="0" algn="bl" rotWithShape="0" blurRad="228600" dist="76200" dir="5400000">
              <a:srgbClr val="D97A1A">
                <a:alpha val="35000"/>
              </a:srgbClr>
            </a:outerShdw>
          </a:effectLst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73221" y="5648325"/>
            <a:ext cx="285750" cy="28575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0566797" y="6010275"/>
            <a:ext cx="7746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GMUD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11506646" y="5753100"/>
            <a:ext cx="400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550" dirty="0"/>
          </a:p>
        </p:txBody>
      </p:sp>
      <p:sp>
        <p:nvSpPr>
          <p:cNvPr id="23" name="Shape 20"/>
          <p:cNvSpPr/>
          <p:nvPr/>
        </p:nvSpPr>
        <p:spPr>
          <a:xfrm>
            <a:off x="11982896" y="5524500"/>
            <a:ext cx="1905000" cy="876300"/>
          </a:xfrm>
          <a:prstGeom prst="roundRect">
            <a:avLst>
              <a:gd name="adj" fmla="val 10870"/>
            </a:avLst>
          </a:prstGeom>
          <a:solidFill>
            <a:srgbClr val="2E7D55"/>
          </a:solidFill>
          <a:ln/>
        </p:spPr>
      </p:sp>
      <p:sp>
        <p:nvSpPr>
          <p:cNvPr id="24" name="Text 21"/>
          <p:cNvSpPr/>
          <p:nvPr/>
        </p:nvSpPr>
        <p:spPr>
          <a:xfrm>
            <a:off x="11944796" y="5524500"/>
            <a:ext cx="198120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Produção</a:t>
            </a:r>
            <a:endParaRPr lang="en-US" sz="2100" dirty="0"/>
          </a:p>
        </p:txBody>
      </p:sp>
      <p:sp>
        <p:nvSpPr>
          <p:cNvPr id="25" name="Text 22"/>
          <p:cNvSpPr/>
          <p:nvPr/>
        </p:nvSpPr>
        <p:spPr>
          <a:xfrm>
            <a:off x="14040296" y="5753100"/>
            <a:ext cx="400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550" dirty="0"/>
          </a:p>
        </p:txBody>
      </p:sp>
      <p:sp>
        <p:nvSpPr>
          <p:cNvPr id="26" name="Shape 23"/>
          <p:cNvSpPr/>
          <p:nvPr/>
        </p:nvSpPr>
        <p:spPr>
          <a:xfrm>
            <a:off x="14516546" y="5276850"/>
            <a:ext cx="2789486" cy="609600"/>
          </a:xfrm>
          <a:prstGeom prst="roundRect">
            <a:avLst>
              <a:gd name="adj" fmla="val 12500"/>
            </a:avLst>
          </a:prstGeom>
          <a:solidFill>
            <a:srgbClr val="2A3744"/>
          </a:solidFill>
          <a:ln/>
        </p:spPr>
      </p:sp>
      <p:sp>
        <p:nvSpPr>
          <p:cNvPr id="27" name="Text 24"/>
          <p:cNvSpPr/>
          <p:nvPr/>
        </p:nvSpPr>
        <p:spPr>
          <a:xfrm>
            <a:off x="14745146" y="5429250"/>
            <a:ext cx="241597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C6CDD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 release → main</a:t>
            </a:r>
            <a:endParaRPr lang="en-US" sz="1800" dirty="0"/>
          </a:p>
        </p:txBody>
      </p:sp>
      <p:sp>
        <p:nvSpPr>
          <p:cNvPr id="28" name="Shape 25"/>
          <p:cNvSpPr/>
          <p:nvPr/>
        </p:nvSpPr>
        <p:spPr>
          <a:xfrm>
            <a:off x="14516546" y="6038850"/>
            <a:ext cx="2789486" cy="609600"/>
          </a:xfrm>
          <a:prstGeom prst="roundRect">
            <a:avLst>
              <a:gd name="adj" fmla="val 12500"/>
            </a:avLst>
          </a:prstGeom>
          <a:solidFill>
            <a:srgbClr val="2A3744"/>
          </a:solidFill>
          <a:ln/>
        </p:spPr>
      </p:sp>
      <p:sp>
        <p:nvSpPr>
          <p:cNvPr id="29" name="Text 26"/>
          <p:cNvSpPr/>
          <p:nvPr/>
        </p:nvSpPr>
        <p:spPr>
          <a:xfrm>
            <a:off x="14745146" y="6191250"/>
            <a:ext cx="241597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C6CDD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 main → develop</a:t>
            </a:r>
            <a:endParaRPr lang="en-US" sz="1800" dirty="0"/>
          </a:p>
        </p:txBody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01777" y="9791700"/>
            <a:ext cx="1419523" cy="2857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2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7250" y="857250"/>
            <a:ext cx="182308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CAMINHO 3 DE 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57250" y="1238250"/>
            <a:ext cx="5358095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48" kern="0" dirty="0">
                <a:solidFill>
                  <a:srgbClr val="F8F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caminho hotfix/*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57250" y="2095500"/>
            <a:ext cx="1823085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AEB8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Gatilho automático — direto para produção, com dois gates manuais.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752725" y="5053013"/>
            <a:ext cx="1714500" cy="876300"/>
          </a:xfrm>
          <a:prstGeom prst="roundRect">
            <a:avLst>
              <a:gd name="adj" fmla="val 10870"/>
            </a:avLst>
          </a:prstGeom>
          <a:solidFill>
            <a:srgbClr val="2456C0"/>
          </a:solidFill>
          <a:ln/>
        </p:spPr>
      </p:sp>
      <p:sp>
        <p:nvSpPr>
          <p:cNvPr id="6" name="Text 4"/>
          <p:cNvSpPr/>
          <p:nvPr/>
        </p:nvSpPr>
        <p:spPr>
          <a:xfrm>
            <a:off x="2714625" y="5053013"/>
            <a:ext cx="179070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4619625" y="5281613"/>
            <a:ext cx="400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5095875" y="5053013"/>
            <a:ext cx="1809750" cy="876300"/>
          </a:xfrm>
          <a:prstGeom prst="roundRect">
            <a:avLst>
              <a:gd name="adj" fmla="val 10870"/>
            </a:avLst>
          </a:prstGeom>
          <a:solidFill>
            <a:srgbClr val="2456C0"/>
          </a:solidFill>
          <a:ln/>
        </p:spPr>
      </p:sp>
      <p:sp>
        <p:nvSpPr>
          <p:cNvPr id="9" name="Text 7"/>
          <p:cNvSpPr/>
          <p:nvPr/>
        </p:nvSpPr>
        <p:spPr>
          <a:xfrm>
            <a:off x="5057775" y="5053013"/>
            <a:ext cx="188595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SonarQube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058025" y="5281613"/>
            <a:ext cx="400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7534275" y="5053013"/>
            <a:ext cx="1524000" cy="876300"/>
          </a:xfrm>
          <a:prstGeom prst="roundRect">
            <a:avLst>
              <a:gd name="adj" fmla="val 10870"/>
            </a:avLst>
          </a:prstGeom>
          <a:solidFill>
            <a:srgbClr val="2456C0"/>
          </a:solidFill>
          <a:ln/>
        </p:spPr>
      </p:sp>
      <p:sp>
        <p:nvSpPr>
          <p:cNvPr id="12" name="Text 10"/>
          <p:cNvSpPr/>
          <p:nvPr/>
        </p:nvSpPr>
        <p:spPr>
          <a:xfrm>
            <a:off x="7496175" y="5053013"/>
            <a:ext cx="160020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9210675" y="5281613"/>
            <a:ext cx="400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550" dirty="0"/>
          </a:p>
        </p:txBody>
      </p:sp>
      <p:sp>
        <p:nvSpPr>
          <p:cNvPr id="14" name="Shape 12"/>
          <p:cNvSpPr/>
          <p:nvPr/>
        </p:nvSpPr>
        <p:spPr>
          <a:xfrm>
            <a:off x="9686925" y="5053013"/>
            <a:ext cx="1809750" cy="876300"/>
          </a:xfrm>
          <a:prstGeom prst="roundRect">
            <a:avLst>
              <a:gd name="adj" fmla="val 10870"/>
            </a:avLst>
          </a:prstGeom>
          <a:solidFill>
            <a:srgbClr val="2456C0"/>
          </a:solidFill>
          <a:ln/>
        </p:spPr>
      </p:sp>
      <p:sp>
        <p:nvSpPr>
          <p:cNvPr id="15" name="Text 13"/>
          <p:cNvSpPr/>
          <p:nvPr/>
        </p:nvSpPr>
        <p:spPr>
          <a:xfrm>
            <a:off x="9648825" y="5053013"/>
            <a:ext cx="188595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Veracode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1649075" y="5281613"/>
            <a:ext cx="400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550" dirty="0"/>
          </a:p>
        </p:txBody>
      </p:sp>
      <p:sp>
        <p:nvSpPr>
          <p:cNvPr id="17" name="Shape 15"/>
          <p:cNvSpPr/>
          <p:nvPr/>
        </p:nvSpPr>
        <p:spPr>
          <a:xfrm>
            <a:off x="12125325" y="4824413"/>
            <a:ext cx="876300" cy="1333500"/>
          </a:xfrm>
          <a:prstGeom prst="roundRect">
            <a:avLst>
              <a:gd name="adj" fmla="val 8696"/>
            </a:avLst>
          </a:prstGeom>
          <a:solidFill>
            <a:srgbClr val="D97A1A"/>
          </a:solidFill>
          <a:ln/>
          <a:effectLst>
            <a:outerShdw sx="100000" sy="100000" kx="0" ky="0" algn="bl" rotWithShape="0" blurRad="228600" dist="76200" dir="5400000">
              <a:srgbClr val="D97A1A">
                <a:alpha val="35000"/>
              </a:srgbClr>
            </a:outerShdw>
          </a:effectLst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420600" y="5176838"/>
            <a:ext cx="285750" cy="28575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2214175" y="5538788"/>
            <a:ext cx="7746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GMUD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3154025" y="5281613"/>
            <a:ext cx="400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550" dirty="0"/>
          </a:p>
        </p:txBody>
      </p:sp>
      <p:sp>
        <p:nvSpPr>
          <p:cNvPr id="21" name="Shape 18"/>
          <p:cNvSpPr/>
          <p:nvPr/>
        </p:nvSpPr>
        <p:spPr>
          <a:xfrm>
            <a:off x="13630275" y="5053013"/>
            <a:ext cx="1905000" cy="876300"/>
          </a:xfrm>
          <a:prstGeom prst="roundRect">
            <a:avLst>
              <a:gd name="adj" fmla="val 10870"/>
            </a:avLst>
          </a:prstGeom>
          <a:solidFill>
            <a:srgbClr val="2E7D55"/>
          </a:solidFill>
          <a:ln/>
        </p:spPr>
      </p:sp>
      <p:sp>
        <p:nvSpPr>
          <p:cNvPr id="22" name="Text 19"/>
          <p:cNvSpPr/>
          <p:nvPr/>
        </p:nvSpPr>
        <p:spPr>
          <a:xfrm>
            <a:off x="13592175" y="5053013"/>
            <a:ext cx="198120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Produção</a:t>
            </a:r>
            <a:endParaRPr lang="en-US" sz="2100" dirty="0"/>
          </a:p>
        </p:txBody>
      </p:sp>
      <p:sp>
        <p:nvSpPr>
          <p:cNvPr id="23" name="Text 20"/>
          <p:cNvSpPr/>
          <p:nvPr/>
        </p:nvSpPr>
        <p:spPr>
          <a:xfrm>
            <a:off x="2651373" y="6729413"/>
            <a:ext cx="225348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REINTEGRAÇÃO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4833342" y="6577013"/>
            <a:ext cx="1800076" cy="571500"/>
          </a:xfrm>
          <a:prstGeom prst="roundRect">
            <a:avLst>
              <a:gd name="adj" fmla="val 13333"/>
            </a:avLst>
          </a:prstGeom>
          <a:solidFill>
            <a:srgbClr val="3F2F18"/>
          </a:solidFill>
          <a:ln w="19050">
            <a:solidFill>
              <a:srgbClr val="D97A1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061942" y="6729413"/>
            <a:ext cx="141907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0A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2ª aprovação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6766768" y="6677025"/>
            <a:ext cx="36195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50" dirty="0"/>
          </a:p>
        </p:txBody>
      </p:sp>
      <p:sp>
        <p:nvSpPr>
          <p:cNvPr id="27" name="Shape 24"/>
          <p:cNvSpPr/>
          <p:nvPr/>
        </p:nvSpPr>
        <p:spPr>
          <a:xfrm>
            <a:off x="7185868" y="6577013"/>
            <a:ext cx="2614166" cy="571500"/>
          </a:xfrm>
          <a:prstGeom prst="roundRect">
            <a:avLst>
              <a:gd name="adj" fmla="val 13333"/>
            </a:avLst>
          </a:prstGeom>
          <a:solidFill>
            <a:srgbClr val="2A3744"/>
          </a:solidFill>
          <a:ln/>
        </p:spPr>
      </p:sp>
      <p:sp>
        <p:nvSpPr>
          <p:cNvPr id="28" name="Text 25"/>
          <p:cNvSpPr/>
          <p:nvPr/>
        </p:nvSpPr>
        <p:spPr>
          <a:xfrm>
            <a:off x="7395418" y="6710362"/>
            <a:ext cx="227349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C6CDD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 hotfix → main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9933384" y="6677025"/>
            <a:ext cx="36195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50" dirty="0"/>
          </a:p>
        </p:txBody>
      </p:sp>
      <p:sp>
        <p:nvSpPr>
          <p:cNvPr id="30" name="Shape 27"/>
          <p:cNvSpPr/>
          <p:nvPr/>
        </p:nvSpPr>
        <p:spPr>
          <a:xfrm>
            <a:off x="10352484" y="6577013"/>
            <a:ext cx="2751386" cy="571500"/>
          </a:xfrm>
          <a:prstGeom prst="roundRect">
            <a:avLst>
              <a:gd name="adj" fmla="val 13333"/>
            </a:avLst>
          </a:prstGeom>
          <a:solidFill>
            <a:srgbClr val="2A3744"/>
          </a:solidFill>
          <a:ln/>
        </p:spPr>
      </p:sp>
      <p:sp>
        <p:nvSpPr>
          <p:cNvPr id="31" name="Text 28"/>
          <p:cNvSpPr/>
          <p:nvPr/>
        </p:nvSpPr>
        <p:spPr>
          <a:xfrm>
            <a:off x="10562034" y="6710362"/>
            <a:ext cx="241482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C6CDD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 main → develop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13237220" y="6677025"/>
            <a:ext cx="36195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50" dirty="0"/>
          </a:p>
        </p:txBody>
      </p:sp>
      <p:sp>
        <p:nvSpPr>
          <p:cNvPr id="33" name="Shape 30"/>
          <p:cNvSpPr/>
          <p:nvPr/>
        </p:nvSpPr>
        <p:spPr>
          <a:xfrm>
            <a:off x="13656320" y="6577013"/>
            <a:ext cx="1980307" cy="571500"/>
          </a:xfrm>
          <a:prstGeom prst="roundRect">
            <a:avLst>
              <a:gd name="adj" fmla="val 13333"/>
            </a:avLst>
          </a:prstGeom>
          <a:solidFill>
            <a:srgbClr val="2A3744"/>
          </a:solidFill>
          <a:ln/>
        </p:spPr>
      </p:sp>
      <p:sp>
        <p:nvSpPr>
          <p:cNvPr id="34" name="Text 31"/>
          <p:cNvSpPr/>
          <p:nvPr/>
        </p:nvSpPr>
        <p:spPr>
          <a:xfrm>
            <a:off x="13865870" y="6710362"/>
            <a:ext cx="163740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EB8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apaga a branch</a:t>
            </a:r>
            <a:endParaRPr lang="en-US" sz="1800" dirty="0"/>
          </a:p>
        </p:txBody>
      </p:sp>
      <p:pic>
        <p:nvPicPr>
          <p:cNvPr id="3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01777" y="9791700"/>
            <a:ext cx="1419523" cy="2857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2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ANATOMIA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238250"/>
            <a:ext cx="18021300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48" kern="0" dirty="0">
                <a:solidFill>
                  <a:srgbClr val="F8F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stages da esteira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52500" y="2076450"/>
            <a:ext cx="180213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Ordem do caminho completo — no dia a dia o Veracode não roda, e na release ele roda em paralelo com a homologação.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952500" y="2724150"/>
            <a:ext cx="16383000" cy="895350"/>
          </a:xfrm>
          <a:prstGeom prst="roundRect">
            <a:avLst>
              <a:gd name="adj" fmla="val 10638"/>
            </a:avLst>
          </a:prstGeom>
          <a:solidFill>
            <a:srgbClr val="26333F"/>
          </a:solidFill>
          <a:ln w="9525">
            <a:solidFill>
              <a:srgbClr val="3B475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04925" y="3009900"/>
            <a:ext cx="7429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2276475" y="3009900"/>
            <a:ext cx="27241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7EA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5057775" y="3005138"/>
            <a:ext cx="88011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C6CD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 o contrato declarado pela aplicação</a:t>
            </a:r>
            <a:endParaRPr lang="en-US" sz="2025" dirty="0"/>
          </a:p>
        </p:txBody>
      </p:sp>
      <p:sp>
        <p:nvSpPr>
          <p:cNvPr id="9" name="Shape 7"/>
          <p:cNvSpPr/>
          <p:nvPr/>
        </p:nvSpPr>
        <p:spPr>
          <a:xfrm>
            <a:off x="13363575" y="2943225"/>
            <a:ext cx="2934891" cy="457200"/>
          </a:xfrm>
          <a:prstGeom prst="roundRect">
            <a:avLst>
              <a:gd name="adj" fmla="val 12500"/>
            </a:avLst>
          </a:prstGeom>
          <a:solidFill>
            <a:srgbClr val="3F2F18"/>
          </a:solidFill>
          <a:ln/>
        </p:spPr>
      </p:sp>
      <p:sp>
        <p:nvSpPr>
          <p:cNvPr id="10" name="Text 8"/>
          <p:cNvSpPr/>
          <p:nvPr/>
        </p:nvSpPr>
        <p:spPr>
          <a:xfrm>
            <a:off x="13535025" y="3038475"/>
            <a:ext cx="268003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0A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BLOQUEIA · rota inválida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52500" y="3790950"/>
            <a:ext cx="16383000" cy="895350"/>
          </a:xfrm>
          <a:prstGeom prst="roundRect">
            <a:avLst>
              <a:gd name="adj" fmla="val 10638"/>
            </a:avLst>
          </a:prstGeom>
          <a:solidFill>
            <a:srgbClr val="26333F"/>
          </a:solidFill>
          <a:ln w="9525">
            <a:solidFill>
              <a:srgbClr val="3B475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04925" y="4076700"/>
            <a:ext cx="7429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2276475" y="4076700"/>
            <a:ext cx="27241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7EA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SonarQube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5057775" y="4071938"/>
            <a:ext cx="88011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C6CD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Testes, cobertura e análise de qualidade</a:t>
            </a:r>
            <a:endParaRPr lang="en-US" sz="2025" dirty="0"/>
          </a:p>
        </p:txBody>
      </p:sp>
      <p:sp>
        <p:nvSpPr>
          <p:cNvPr id="15" name="Shape 13"/>
          <p:cNvSpPr/>
          <p:nvPr/>
        </p:nvSpPr>
        <p:spPr>
          <a:xfrm>
            <a:off x="13363575" y="4010025"/>
            <a:ext cx="2972842" cy="457200"/>
          </a:xfrm>
          <a:prstGeom prst="roundRect">
            <a:avLst>
              <a:gd name="adj" fmla="val 12500"/>
            </a:avLst>
          </a:prstGeom>
          <a:solidFill>
            <a:srgbClr val="3F2F18"/>
          </a:solidFill>
          <a:ln/>
        </p:spPr>
      </p:sp>
      <p:sp>
        <p:nvSpPr>
          <p:cNvPr id="16" name="Text 14"/>
          <p:cNvSpPr/>
          <p:nvPr/>
        </p:nvSpPr>
        <p:spPr>
          <a:xfrm>
            <a:off x="13535025" y="4105275"/>
            <a:ext cx="271912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0A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BLOQUEIA · Quality Gate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52500" y="4857750"/>
            <a:ext cx="16383000" cy="771525"/>
          </a:xfrm>
          <a:prstGeom prst="roundRect">
            <a:avLst>
              <a:gd name="adj" fmla="val 12346"/>
            </a:avLst>
          </a:prstGeom>
          <a:solidFill>
            <a:srgbClr val="26333F"/>
          </a:solidFill>
          <a:ln w="9525">
            <a:solidFill>
              <a:srgbClr val="3B475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04925" y="5081588"/>
            <a:ext cx="7429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2276475" y="5081588"/>
            <a:ext cx="27241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7EA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5057775" y="5076825"/>
            <a:ext cx="88011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C6CD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— gera a imagem uma vez e publica como artefato</a:t>
            </a:r>
            <a:endParaRPr lang="en-US" sz="2025" dirty="0"/>
          </a:p>
        </p:txBody>
      </p:sp>
      <p:sp>
        <p:nvSpPr>
          <p:cNvPr id="21" name="Text 19"/>
          <p:cNvSpPr/>
          <p:nvPr/>
        </p:nvSpPr>
        <p:spPr>
          <a:xfrm>
            <a:off x="13363575" y="5091113"/>
            <a:ext cx="39814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52500" y="5800725"/>
            <a:ext cx="16383000" cy="1162050"/>
          </a:xfrm>
          <a:prstGeom prst="roundRect">
            <a:avLst>
              <a:gd name="adj" fmla="val 8197"/>
            </a:avLst>
          </a:prstGeom>
          <a:solidFill>
            <a:srgbClr val="26333F"/>
          </a:solidFill>
          <a:ln w="9525">
            <a:solidFill>
              <a:srgbClr val="3B475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04925" y="6219825"/>
            <a:ext cx="7429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2276475" y="6219825"/>
            <a:ext cx="27241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7EA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Veracode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5057775" y="6215063"/>
            <a:ext cx="88011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C6CD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estática de segurança (SAST)</a:t>
            </a:r>
            <a:endParaRPr lang="en-US" sz="2025" dirty="0"/>
          </a:p>
        </p:txBody>
      </p:sp>
      <p:sp>
        <p:nvSpPr>
          <p:cNvPr id="26" name="Shape 24"/>
          <p:cNvSpPr/>
          <p:nvPr/>
        </p:nvSpPr>
        <p:spPr>
          <a:xfrm>
            <a:off x="13363575" y="6019800"/>
            <a:ext cx="3619500" cy="723900"/>
          </a:xfrm>
          <a:prstGeom prst="roundRect">
            <a:avLst>
              <a:gd name="adj" fmla="val 7895"/>
            </a:avLst>
          </a:prstGeom>
          <a:solidFill>
            <a:srgbClr val="3F2F18"/>
          </a:solidFill>
          <a:ln/>
        </p:spPr>
      </p:sp>
      <p:sp>
        <p:nvSpPr>
          <p:cNvPr id="27" name="Text 25"/>
          <p:cNvSpPr/>
          <p:nvPr/>
        </p:nvSpPr>
        <p:spPr>
          <a:xfrm>
            <a:off x="13535025" y="6115050"/>
            <a:ext cx="338518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0A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BLOQUEIA · política de segurança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52500" y="7134225"/>
            <a:ext cx="16383000" cy="1104900"/>
          </a:xfrm>
          <a:prstGeom prst="roundRect">
            <a:avLst>
              <a:gd name="adj" fmla="val 8621"/>
            </a:avLst>
          </a:prstGeom>
          <a:solidFill>
            <a:srgbClr val="26333F"/>
          </a:solidFill>
          <a:ln w="9525">
            <a:solidFill>
              <a:srgbClr val="3B475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04925" y="7524750"/>
            <a:ext cx="7429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50" dirty="0"/>
          </a:p>
        </p:txBody>
      </p:sp>
      <p:sp>
        <p:nvSpPr>
          <p:cNvPr id="30" name="Text 28"/>
          <p:cNvSpPr/>
          <p:nvPr/>
        </p:nvSpPr>
        <p:spPr>
          <a:xfrm>
            <a:off x="2276475" y="7524750"/>
            <a:ext cx="27241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5FB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</a:t>
            </a:r>
            <a:endParaRPr lang="en-US" sz="2250" dirty="0"/>
          </a:p>
        </p:txBody>
      </p:sp>
      <p:sp>
        <p:nvSpPr>
          <p:cNvPr id="31" name="Text 29"/>
          <p:cNvSpPr/>
          <p:nvPr/>
        </p:nvSpPr>
        <p:spPr>
          <a:xfrm>
            <a:off x="5057775" y="7353300"/>
            <a:ext cx="824103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C6CD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 provisiona a infra Manifestos Kubernetes aplicados no Amazon EKS</a:t>
            </a:r>
            <a:endParaRPr lang="en-US" sz="2025" dirty="0"/>
          </a:p>
        </p:txBody>
      </p:sp>
      <p:sp>
        <p:nvSpPr>
          <p:cNvPr id="32" name="Text 30"/>
          <p:cNvSpPr/>
          <p:nvPr/>
        </p:nvSpPr>
        <p:spPr>
          <a:xfrm>
            <a:off x="13363575" y="7534275"/>
            <a:ext cx="39814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800" dirty="0"/>
          </a:p>
        </p:txBody>
      </p:sp>
      <p:pic>
        <p:nvPicPr>
          <p:cNvPr id="3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01777" y="9791700"/>
            <a:ext cx="1419523" cy="2857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2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OPERAÇÃO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238250"/>
            <a:ext cx="18021300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48" kern="0" dirty="0">
                <a:solidFill>
                  <a:srgbClr val="F8F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Rollback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52500" y="2247900"/>
            <a:ext cx="1802130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C6CD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 versão em produção quebrou. A última boa é a </a:t>
            </a:r>
            <a:pPr algn="l" indent="0" marL="0">
              <a:buNone/>
            </a:pPr>
            <a:r>
              <a:rPr lang="en-US" sz="2850" b="1" dirty="0">
                <a:solidFill>
                  <a:srgbClr val="7EA4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48180</a:t>
            </a:r>
            <a:pPr algn="l" indent="0" marL="0">
              <a:buNone/>
            </a:pPr>
            <a:r>
              <a:rPr lang="en-US" sz="2850" b="1" dirty="0">
                <a:solidFill>
                  <a:srgbClr val="C6CD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."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2313682" y="3133725"/>
            <a:ext cx="2350740" cy="819150"/>
          </a:xfrm>
          <a:prstGeom prst="roundRect">
            <a:avLst>
              <a:gd name="adj" fmla="val 11628"/>
            </a:avLst>
          </a:prstGeom>
          <a:solidFill>
            <a:srgbClr val="2456C0"/>
          </a:solidFill>
          <a:ln/>
        </p:spPr>
      </p:sp>
      <p:sp>
        <p:nvSpPr>
          <p:cNvPr id="6" name="Text 4"/>
          <p:cNvSpPr/>
          <p:nvPr/>
        </p:nvSpPr>
        <p:spPr>
          <a:xfrm>
            <a:off x="2694682" y="3381375"/>
            <a:ext cx="166494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pipeline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4854922" y="3333750"/>
            <a:ext cx="400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5369272" y="3133725"/>
            <a:ext cx="2906167" cy="819150"/>
          </a:xfrm>
          <a:prstGeom prst="roundRect">
            <a:avLst>
              <a:gd name="adj" fmla="val 11628"/>
            </a:avLst>
          </a:prstGeom>
          <a:solidFill>
            <a:srgbClr val="2456C0"/>
          </a:solidFill>
          <a:ln/>
        </p:spPr>
      </p:sp>
      <p:sp>
        <p:nvSpPr>
          <p:cNvPr id="9" name="Text 7"/>
          <p:cNvSpPr/>
          <p:nvPr/>
        </p:nvSpPr>
        <p:spPr>
          <a:xfrm>
            <a:off x="5750272" y="3381375"/>
            <a:ext cx="2231352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 a versão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8465939" y="3333750"/>
            <a:ext cx="400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8980289" y="3133725"/>
            <a:ext cx="2858244" cy="819150"/>
          </a:xfrm>
          <a:prstGeom prst="roundRect">
            <a:avLst>
              <a:gd name="adj" fmla="val 11628"/>
            </a:avLst>
          </a:prstGeom>
          <a:solidFill>
            <a:srgbClr val="D97A1A"/>
          </a:solidFill>
          <a:ln/>
        </p:spPr>
      </p:sp>
      <p:sp>
        <p:nvSpPr>
          <p:cNvPr id="12" name="Text 10"/>
          <p:cNvSpPr/>
          <p:nvPr/>
        </p:nvSpPr>
        <p:spPr>
          <a:xfrm>
            <a:off x="9361289" y="3381375"/>
            <a:ext cx="218199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Aprova a GMUD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2029033" y="3333750"/>
            <a:ext cx="400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550" dirty="0"/>
          </a:p>
        </p:txBody>
      </p:sp>
      <p:sp>
        <p:nvSpPr>
          <p:cNvPr id="14" name="Shape 12"/>
          <p:cNvSpPr/>
          <p:nvPr/>
        </p:nvSpPr>
        <p:spPr>
          <a:xfrm>
            <a:off x="12543383" y="3133725"/>
            <a:ext cx="3430786" cy="819150"/>
          </a:xfrm>
          <a:prstGeom prst="roundRect">
            <a:avLst>
              <a:gd name="adj" fmla="val 11628"/>
            </a:avLst>
          </a:prstGeom>
          <a:solidFill>
            <a:srgbClr val="2E7D55"/>
          </a:solidFill>
          <a:ln/>
        </p:spPr>
      </p:sp>
      <p:sp>
        <p:nvSpPr>
          <p:cNvPr id="15" name="Text 13"/>
          <p:cNvSpPr/>
          <p:nvPr/>
        </p:nvSpPr>
        <p:spPr>
          <a:xfrm>
            <a:off x="12924383" y="3381375"/>
            <a:ext cx="277171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Produção restaurada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952500" y="4486275"/>
            <a:ext cx="871728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C6CD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Mesma pipeline — sem segunda pipeline, sem recompilar</a:t>
            </a:r>
            <a:endParaRPr lang="en-US" sz="2175" dirty="0"/>
          </a:p>
        </p:txBody>
      </p:sp>
      <p:sp>
        <p:nvSpPr>
          <p:cNvPr id="17" name="Text 15"/>
          <p:cNvSpPr/>
          <p:nvPr/>
        </p:nvSpPr>
        <p:spPr>
          <a:xfrm>
            <a:off x="9410700" y="4486275"/>
            <a:ext cx="871728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C6CD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Pula qualidade e build inteiros — só troca a imagem</a:t>
            </a:r>
            <a:endParaRPr lang="en-US" sz="2175" dirty="0"/>
          </a:p>
        </p:txBody>
      </p:sp>
      <p:sp>
        <p:nvSpPr>
          <p:cNvPr id="18" name="Text 16"/>
          <p:cNvSpPr/>
          <p:nvPr/>
        </p:nvSpPr>
        <p:spPr>
          <a:xfrm>
            <a:off x="952500" y="5076825"/>
            <a:ext cx="871728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C6CD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Fica registrado: o run é renomeado e marcado como rollback</a:t>
            </a:r>
            <a:endParaRPr lang="en-US" sz="2175" dirty="0"/>
          </a:p>
        </p:txBody>
      </p:sp>
      <p:sp>
        <p:nvSpPr>
          <p:cNvPr id="19" name="Text 17"/>
          <p:cNvSpPr/>
          <p:nvPr/>
        </p:nvSpPr>
        <p:spPr>
          <a:xfrm>
            <a:off x="9410700" y="5076825"/>
            <a:ext cx="871728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C6CD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Leva minutos</a:t>
            </a:r>
            <a:endParaRPr lang="en-US" sz="2175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01777" y="9791700"/>
            <a:ext cx="1419523" cy="2857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C2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72610" y="4167188"/>
            <a:ext cx="4556894" cy="1247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0" b="1" spc="-165" kern="0" dirty="0">
                <a:solidFill>
                  <a:srgbClr val="F8F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Obrigado</a:t>
            </a:r>
            <a:endParaRPr lang="en-US" sz="82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01777" y="9791700"/>
            <a:ext cx="1419523" cy="2857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2026-07-23T13:16:46Z</dcterms:created>
  <dcterms:modified xsi:type="dcterms:W3CDTF">2026-07-23T13:16:46Z</dcterms:modified>
</cp:coreProperties>
</file>